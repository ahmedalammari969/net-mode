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09390" y="731520"/>
            <a:ext cx="4572000" cy="411480"/>
          </a:xfrm>
          <a:prstGeom prst="roundRect">
            <a:avLst/>
          </a:prstGeom>
          <a:solidFill>
            <a:srgbClr val="0F172A"/>
          </a:solidFill>
          <a:ln>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00" b="1">
                <a:solidFill>
                  <a:srgbClr val="00F0FF"/>
                </a:solidFill>
                <a:latin typeface="Cairo"/>
              </a:defRPr>
            </a:pPr>
            <a:r>
              <a:t>مشروع تخرج معتمد | Advanced Software Engineering</a:t>
            </a:r>
          </a:p>
        </p:txBody>
      </p:sp>
      <p:sp>
        <p:nvSpPr>
          <p:cNvPr id="4" name="TextBox 3"/>
          <p:cNvSpPr txBox="1"/>
          <p:nvPr/>
        </p:nvSpPr>
        <p:spPr>
          <a:xfrm>
            <a:off x="914400" y="1280160"/>
            <a:ext cx="10362895" cy="2011680"/>
          </a:xfrm>
          <a:prstGeom prst="rect">
            <a:avLst/>
          </a:prstGeom>
          <a:noFill/>
        </p:spPr>
        <p:txBody>
          <a:bodyPr wrap="square">
            <a:spAutoFit/>
          </a:bodyPr>
          <a:lstStyle/>
          <a:p>
            <a:pPr algn="ctr">
              <a:defRPr sz="5600" b="1">
                <a:solidFill>
                  <a:srgbClr val="F8FAFC"/>
                </a:solidFill>
                <a:latin typeface="Cairo"/>
              </a:defRPr>
            </a:pPr>
            <a:r>
              <a:t>NET Mode</a:t>
            </a:r>
          </a:p>
          <a:p>
            <a:pPr algn="ctr">
              <a:defRPr sz="2000" b="1">
                <a:solidFill>
                  <a:srgbClr val="00F0FF"/>
                </a:solidFill>
                <a:latin typeface="Cairo"/>
              </a:defRPr>
            </a:pPr>
            <a:r>
              <a:t>Advanced Cellular Network &amp; Radio Testing Suite</a:t>
            </a:r>
          </a:p>
          <a:p>
            <a:pPr algn="ctr">
              <a:defRPr sz="1300">
                <a:solidFill>
                  <a:srgbClr val="94A3B8"/>
                </a:solidFill>
                <a:latin typeface="Tajawal"/>
              </a:defRPr>
            </a:pPr>
            <a:r>
              <a:t>منظومة فحص وإدارة ترددات الشبكات الخلوية وفق معمارية Clean Architecture وبروتوكول MCP</a:t>
            </a:r>
          </a:p>
        </p:txBody>
      </p:sp>
      <p:sp>
        <p:nvSpPr>
          <p:cNvPr id="5" name="Rounded Rectangle 4"/>
          <p:cNvSpPr/>
          <p:nvPr/>
        </p:nvSpPr>
        <p:spPr>
          <a:xfrm>
            <a:off x="1371600" y="3657600"/>
            <a:ext cx="4389120" cy="219456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3794760"/>
            <a:ext cx="4023360" cy="457200"/>
          </a:xfrm>
          <a:prstGeom prst="rect">
            <a:avLst/>
          </a:prstGeom>
          <a:noFill/>
        </p:spPr>
        <p:txBody>
          <a:bodyPr wrap="square" lIns="0" tIns="0" rIns="0" bIns="0">
            <a:spAutoFit/>
          </a:bodyPr>
          <a:lstStyle/>
          <a:p>
            <a:pPr algn="r">
              <a:defRPr sz="1400" b="1">
                <a:solidFill>
                  <a:srgbClr val="00F0FF"/>
                </a:solidFill>
                <a:latin typeface="Cairo"/>
              </a:defRPr>
            </a:pPr>
            <a:r>
              <a:t>فريق العمل الهندسي (Team Alpha)</a:t>
            </a:r>
          </a:p>
        </p:txBody>
      </p:sp>
      <p:sp>
        <p:nvSpPr>
          <p:cNvPr id="7" name="TextBox 6"/>
          <p:cNvSpPr txBox="1"/>
          <p:nvPr/>
        </p:nvSpPr>
        <p:spPr>
          <a:xfrm>
            <a:off x="1554480" y="4206240"/>
            <a:ext cx="4023360" cy="1554480"/>
          </a:xfrm>
          <a:prstGeom prst="rect">
            <a:avLst/>
          </a:prstGeom>
          <a:noFill/>
        </p:spPr>
        <p:txBody>
          <a:bodyPr wrap="square">
            <a:spAutoFit/>
          </a:bodyPr>
          <a:lstStyle/>
          <a:p/>
          <a:p>
            <a:pPr algn="r">
              <a:defRPr sz="1050">
                <a:solidFill>
                  <a:srgbClr val="F8FAFC"/>
                </a:solidFill>
                <a:latin typeface="Tajawal"/>
              </a:defRPr>
            </a:pPr>
            <a:r>
              <a:t>• 1. أحمد الأهدل — Scrum Master &amp; Documentation Lead</a:t>
            </a:r>
          </a:p>
          <a:p>
            <a:pPr algn="r">
              <a:defRPr sz="1050">
                <a:solidFill>
                  <a:srgbClr val="F8FAFC"/>
                </a:solidFill>
                <a:latin typeface="Tajawal"/>
              </a:defRPr>
            </a:pPr>
            <a:r>
              <a:t>• 2. محمد علي / محمد الدعيس — Core Domain &amp; Software Architect</a:t>
            </a:r>
          </a:p>
          <a:p>
            <a:pPr algn="r">
              <a:defRPr sz="1050">
                <a:solidFill>
                  <a:srgbClr val="F8FAFC"/>
                </a:solidFill>
                <a:latin typeface="Tajawal"/>
              </a:defRPr>
            </a:pPr>
            <a:r>
              <a:t>• 3. يوسف خيري — Data Layer &amp; Telephony Storage Engineer</a:t>
            </a:r>
          </a:p>
          <a:p>
            <a:pPr algn="r">
              <a:defRPr sz="1050">
                <a:solidFill>
                  <a:srgbClr val="F8FAFC"/>
                </a:solidFill>
                <a:latin typeface="Tajawal"/>
              </a:defRPr>
            </a:pPr>
            <a:r>
              <a:t>• 4. مؤيد الصوفي — UI/UX &amp; Presentation State Engineer</a:t>
            </a:r>
          </a:p>
        </p:txBody>
      </p:sp>
      <p:sp>
        <p:nvSpPr>
          <p:cNvPr id="8" name="Rounded Rectangle 7"/>
          <p:cNvSpPr/>
          <p:nvPr/>
        </p:nvSpPr>
        <p:spPr>
          <a:xfrm>
            <a:off x="6400800" y="3657600"/>
            <a:ext cx="4389120" cy="219456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794760"/>
            <a:ext cx="4023360" cy="457200"/>
          </a:xfrm>
          <a:prstGeom prst="rect">
            <a:avLst/>
          </a:prstGeom>
          <a:noFill/>
        </p:spPr>
        <p:txBody>
          <a:bodyPr wrap="square" lIns="0" tIns="0" rIns="0" bIns="0">
            <a:spAutoFit/>
          </a:bodyPr>
          <a:lstStyle/>
          <a:p>
            <a:pPr algn="r">
              <a:defRPr sz="1400" b="1">
                <a:solidFill>
                  <a:srgbClr val="00F0FF"/>
                </a:solidFill>
                <a:latin typeface="Cairo"/>
              </a:defRPr>
            </a:pPr>
            <a:r>
              <a:t>الإشراف الأكاديمي والتقنيات</a:t>
            </a:r>
          </a:p>
        </p:txBody>
      </p:sp>
      <p:sp>
        <p:nvSpPr>
          <p:cNvPr id="10" name="TextBox 9"/>
          <p:cNvSpPr txBox="1"/>
          <p:nvPr/>
        </p:nvSpPr>
        <p:spPr>
          <a:xfrm>
            <a:off x="6583680" y="4206240"/>
            <a:ext cx="4023360" cy="1554480"/>
          </a:xfrm>
          <a:prstGeom prst="rect">
            <a:avLst/>
          </a:prstGeom>
          <a:noFill/>
        </p:spPr>
        <p:txBody>
          <a:bodyPr wrap="square">
            <a:spAutoFit/>
          </a:bodyPr>
          <a:lstStyle/>
          <a:p/>
          <a:p>
            <a:pPr algn="r">
              <a:defRPr sz="1100">
                <a:solidFill>
                  <a:srgbClr val="94A3B8"/>
                </a:solidFill>
                <a:latin typeface="Tajawal"/>
              </a:defRPr>
            </a:pPr>
            <a:r>
              <a:t>تحت إشراف الأستاذ الدكتور:</a:t>
            </a:r>
          </a:p>
          <a:p>
            <a:pPr algn="r">
              <a:defRPr sz="1800" b="1">
                <a:solidFill>
                  <a:srgbClr val="10B981"/>
                </a:solidFill>
                <a:latin typeface="Cairo"/>
              </a:defRPr>
            </a:pPr>
            <a:r>
              <a:t>د.م. ساهر الهمداني</a:t>
            </a:r>
          </a:p>
          <a:p>
            <a:pPr algn="r">
              <a:defRPr sz="1000">
                <a:solidFill>
                  <a:srgbClr val="00F0FF"/>
                </a:solidFill>
                <a:latin typeface="Tajawal"/>
              </a:defRPr>
            </a:pPr>
            <a:r>
              <a:t>التقنيات: Flutter 3.x | Kotlin Native | Clean Architecture | Dart &amp; GitHub MCP Servers</a:t>
            </a:r>
          </a:p>
        </p:txBody>
      </p:sp>
      <p:sp>
        <p:nvSpPr>
          <p:cNvPr id="11" name="TextBox 10"/>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1 من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المشكلة والحل الهندسي</a:t>
            </a:r>
          </a:p>
          <a:p>
            <a:pPr algn="r">
              <a:defRPr sz="2400" b="1">
                <a:solidFill>
                  <a:srgbClr val="F8FAFC"/>
                </a:solidFill>
                <a:latin typeface="Cairo"/>
              </a:defRPr>
            </a:pPr>
            <a:r>
              <a:t>1. المشكلة الهندسية، الدوافع، والرؤية الابتكارية</a:t>
            </a:r>
          </a:p>
        </p:txBody>
      </p:sp>
      <p:sp>
        <p:nvSpPr>
          <p:cNvPr id="4" name="Rounded Rectangle 3"/>
          <p:cNvSpPr/>
          <p:nvPr/>
        </p:nvSpPr>
        <p:spPr>
          <a:xfrm>
            <a:off x="731520" y="1645920"/>
            <a:ext cx="329184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57200"/>
          </a:xfrm>
          <a:prstGeom prst="rect">
            <a:avLst/>
          </a:prstGeom>
          <a:noFill/>
        </p:spPr>
        <p:txBody>
          <a:bodyPr wrap="square" lIns="0" tIns="0" rIns="0" bIns="0">
            <a:spAutoFit/>
          </a:bodyPr>
          <a:lstStyle/>
          <a:p>
            <a:pPr algn="r">
              <a:defRPr sz="1400" b="1">
                <a:solidFill>
                  <a:srgbClr val="00F0FF"/>
                </a:solidFill>
                <a:latin typeface="Cairo"/>
              </a:defRPr>
            </a:pPr>
            <a:r>
              <a:t>التحديات والمشكلات التقنية</a:t>
            </a:r>
          </a:p>
        </p:txBody>
      </p:sp>
      <p:sp>
        <p:nvSpPr>
          <p:cNvPr id="6" name="TextBox 5"/>
          <p:cNvSpPr txBox="1"/>
          <p:nvPr/>
        </p:nvSpPr>
        <p:spPr>
          <a:xfrm>
            <a:off x="914400" y="2286000"/>
            <a:ext cx="2926080" cy="3566160"/>
          </a:xfrm>
          <a:prstGeom prst="rect">
            <a:avLst/>
          </a:prstGeom>
          <a:noFill/>
        </p:spPr>
        <p:txBody>
          <a:bodyPr wrap="square">
            <a:spAutoFit/>
          </a:bodyPr>
          <a:lstStyle/>
          <a:p/>
          <a:p>
            <a:pPr algn="r">
              <a:defRPr sz="1000">
                <a:solidFill>
                  <a:srgbClr val="94A3B8"/>
                </a:solidFill>
                <a:latin typeface="Tajawal"/>
              </a:defRPr>
            </a:pPr>
            <a:r>
              <a:t>❌ تشتت واجهات الشركات: تخفي سامسونج وشاومي قوائم ضبط التردد المتقدمة بأكواد سرية معقدة وغير موحدة.</a:t>
            </a:r>
          </a:p>
          <a:p>
            <a:pPr algn="r">
              <a:defRPr sz="1000">
                <a:solidFill>
                  <a:srgbClr val="94A3B8"/>
                </a:solidFill>
                <a:latin typeface="Tajawal"/>
              </a:defRPr>
            </a:pPr>
            <a:r>
              <a:t>❌ سقوط الشبكة التلقائي: تحول الهاتف المتكرر من 4G/LTE إلى 3G/2G في مناطق التغطية المتذبذبة باليمن.</a:t>
            </a:r>
          </a:p>
          <a:p>
            <a:pPr algn="r">
              <a:defRPr sz="1000">
                <a:solidFill>
                  <a:srgbClr val="94A3B8"/>
                </a:solidFill>
                <a:latin typeface="Tajawal"/>
              </a:defRPr>
            </a:pPr>
            <a:r>
              <a:t>❌ استنزاف البطارية الشديد: بحث المودم المستمر بين ترددات متعددة يؤدي لارتفاع حرارة المعالج وهدر الطاقة.</a:t>
            </a:r>
          </a:p>
          <a:p>
            <a:pPr algn="r">
              <a:defRPr sz="1000">
                <a:solidFill>
                  <a:srgbClr val="94A3B8"/>
                </a:solidFill>
                <a:latin typeface="Tajawal"/>
              </a:defRPr>
            </a:pPr>
            <a:r>
              <a:t>❌ قيود أندرويد 11 - 14+: حظر وصول التطبيقات العادية لصلاحيات المودم المباشرة صمتاً.</a:t>
            </a:r>
          </a:p>
        </p:txBody>
      </p:sp>
      <p:sp>
        <p:nvSpPr>
          <p:cNvPr id="7" name="Rounded Rectangle 6"/>
          <p:cNvSpPr/>
          <p:nvPr/>
        </p:nvSpPr>
        <p:spPr>
          <a:xfrm>
            <a:off x="4389120" y="1645920"/>
            <a:ext cx="347472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3108960" cy="457200"/>
          </a:xfrm>
          <a:prstGeom prst="rect">
            <a:avLst/>
          </a:prstGeom>
          <a:noFill/>
        </p:spPr>
        <p:txBody>
          <a:bodyPr wrap="square" lIns="0" tIns="0" rIns="0" bIns="0">
            <a:spAutoFit/>
          </a:bodyPr>
          <a:lstStyle/>
          <a:p>
            <a:pPr algn="r">
              <a:defRPr sz="1400" b="1">
                <a:solidFill>
                  <a:srgbClr val="00F0FF"/>
                </a:solidFill>
                <a:latin typeface="Cairo"/>
              </a:defRPr>
            </a:pPr>
            <a:r>
              <a:t>الحل الهندسي الشامل (NET Mode)</a:t>
            </a:r>
          </a:p>
        </p:txBody>
      </p:sp>
      <p:sp>
        <p:nvSpPr>
          <p:cNvPr id="9" name="TextBox 8"/>
          <p:cNvSpPr txBox="1"/>
          <p:nvPr/>
        </p:nvSpPr>
        <p:spPr>
          <a:xfrm>
            <a:off x="4572000" y="2286000"/>
            <a:ext cx="3108960" cy="3566160"/>
          </a:xfrm>
          <a:prstGeom prst="rect">
            <a:avLst/>
          </a:prstGeom>
          <a:noFill/>
        </p:spPr>
        <p:txBody>
          <a:bodyPr wrap="square">
            <a:spAutoFit/>
          </a:bodyPr>
          <a:lstStyle/>
          <a:p/>
          <a:p>
            <a:pPr algn="r">
              <a:defRPr sz="1050">
                <a:solidFill>
                  <a:srgbClr val="F8FAFC"/>
                </a:solidFill>
                <a:latin typeface="Tajawal"/>
              </a:defRPr>
            </a:pPr>
            <a:r>
              <a:t>✅ قفل التردد الإجباري (Lock): تثبيت الاتصال على نمط LTE Only لمنع الهبوط لسرعات الجيل القديم إطلاقاً.</a:t>
            </a:r>
          </a:p>
          <a:p>
            <a:pPr algn="r">
              <a:defRPr sz="1050">
                <a:solidFill>
                  <a:srgbClr val="F8FAFC"/>
                </a:solidFill>
                <a:latin typeface="Tajawal"/>
              </a:defRPr>
            </a:pPr>
            <a:r>
              <a:t>✅ أول تطبيق يمني متخصص: دعم مباشر لشبكات سبأفون، يو (YOU)، ويمن موبايل (VoLTE/4G).</a:t>
            </a:r>
          </a:p>
          <a:p>
            <a:pPr algn="r">
              <a:defRPr sz="1050">
                <a:solidFill>
                  <a:srgbClr val="F8FAFC"/>
                </a:solidFill>
                <a:latin typeface="Tajawal"/>
              </a:defRPr>
            </a:pPr>
            <a:r>
              <a:t>✅ محايد ومستقل أوفلاين: يعمل بدون إنترنت 100% ولا يجمع أي بيانات للمستخدم نهائياً.</a:t>
            </a:r>
          </a:p>
          <a:p>
            <a:pPr algn="r">
              <a:defRPr sz="1050">
                <a:solidFill>
                  <a:srgbClr val="F8FAFC"/>
                </a:solidFill>
                <a:latin typeface="Tajawal"/>
              </a:defRPr>
            </a:pPr>
            <a:r>
              <a:t>✅ استراتيجية القفز الهجين: الجمع بين أوامر الروت الصامتة وتجاوز قيود أندرويد بحزم Intent المتعددة.</a:t>
            </a:r>
          </a:p>
        </p:txBody>
      </p:sp>
      <p:sp>
        <p:nvSpPr>
          <p:cNvPr id="10" name="Rounded Rectangle 9"/>
          <p:cNvSpPr/>
          <p:nvPr/>
        </p:nvSpPr>
        <p:spPr>
          <a:xfrm>
            <a:off x="8138160" y="1645920"/>
            <a:ext cx="329184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783080"/>
            <a:ext cx="2926080" cy="457200"/>
          </a:xfrm>
          <a:prstGeom prst="rect">
            <a:avLst/>
          </a:prstGeom>
          <a:noFill/>
        </p:spPr>
        <p:txBody>
          <a:bodyPr wrap="square" lIns="0" tIns="0" rIns="0" bIns="0">
            <a:spAutoFit/>
          </a:bodyPr>
          <a:lstStyle/>
          <a:p>
            <a:pPr algn="r">
              <a:defRPr sz="1400" b="1">
                <a:solidFill>
                  <a:srgbClr val="00F0FF"/>
                </a:solidFill>
                <a:latin typeface="Cairo"/>
              </a:defRPr>
            </a:pPr>
            <a:r>
              <a:t>مؤشرات الأداء القياسية</a:t>
            </a:r>
          </a:p>
        </p:txBody>
      </p:sp>
      <p:sp>
        <p:nvSpPr>
          <p:cNvPr id="12" name="TextBox 11"/>
          <p:cNvSpPr txBox="1"/>
          <p:nvPr/>
        </p:nvSpPr>
        <p:spPr>
          <a:xfrm>
            <a:off x="8321040" y="2286000"/>
            <a:ext cx="2926080" cy="3566160"/>
          </a:xfrm>
          <a:prstGeom prst="rect">
            <a:avLst/>
          </a:prstGeom>
          <a:noFill/>
        </p:spPr>
        <p:txBody>
          <a:bodyPr wrap="square">
            <a:spAutoFit/>
          </a:bodyPr>
          <a:lstStyle/>
          <a:p/>
          <a:p>
            <a:pPr algn="r">
              <a:defRPr sz="1100">
                <a:solidFill>
                  <a:srgbClr val="00F0FF"/>
                </a:solidFill>
                <a:latin typeface="Tajawal"/>
              </a:defRPr>
            </a:pPr>
            <a:r>
              <a:t>💎 ⚡ زمن الاستجابة: &lt; 50ms لنقل أوامر المودم.</a:t>
            </a:r>
          </a:p>
          <a:p>
            <a:pPr algn="r">
              <a:defRPr sz="1100">
                <a:solidFill>
                  <a:srgbClr val="00F0FF"/>
                </a:solidFill>
                <a:latin typeface="Tajawal"/>
              </a:defRPr>
            </a:pPr>
            <a:r>
              <a:t>💎 🛡️ التوافقية: Android 8.0 (API 26) إلى Android 14+.</a:t>
            </a:r>
          </a:p>
          <a:p>
            <a:pPr algn="r">
              <a:defRPr sz="1100">
                <a:solidFill>
                  <a:srgbClr val="00F0FF"/>
                </a:solidFill>
                <a:latin typeface="Tajawal"/>
              </a:defRPr>
            </a:pPr>
            <a:r>
              <a:t>💎 🔋 توفير الطاقة: خفض بنسبة 35% في استهلاك بطارية الراديو عند تثبيت التردد.</a:t>
            </a:r>
          </a:p>
          <a:p>
            <a:pPr algn="r">
              <a:defRPr sz="1100">
                <a:solidFill>
                  <a:srgbClr val="00F0FF"/>
                </a:solidFill>
                <a:latin typeface="Tajawal"/>
              </a:defRPr>
            </a:pPr>
            <a:r>
              <a:t>💎 📊 التغطية الاختبارية: 100% لطبقة النطاق (Domain Layer).</a:t>
            </a:r>
          </a:p>
          <a:p>
            <a:pPr algn="r">
              <a:defRPr sz="1100">
                <a:solidFill>
                  <a:srgbClr val="00F0FF"/>
                </a:solidFill>
                <a:latin typeface="Tajawal"/>
              </a:defRPr>
            </a:pPr>
            <a:r>
              <a:t>💎 🧩 المعمارية: Clean Architecture بـ 3 طبقات مستقلة تماماً.</a:t>
            </a:r>
          </a:p>
        </p:txBody>
      </p:sp>
      <p:sp>
        <p:nvSpPr>
          <p:cNvPr id="13" name="TextBox 12"/>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2 من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منهجية التطوير الاحترافية</a:t>
            </a:r>
          </a:p>
          <a:p>
            <a:pPr algn="r">
              <a:defRPr sz="2400" b="1">
                <a:solidFill>
                  <a:srgbClr val="F8FAFC"/>
                </a:solidFill>
                <a:latin typeface="Cairo"/>
              </a:defRPr>
            </a:pPr>
            <a:r>
              <a:t>2. خط أنابيب هندسة البرمجيات الشامل (7-Phase Workflow Pipeline)</a:t>
            </a:r>
          </a:p>
        </p:txBody>
      </p:sp>
      <p:sp>
        <p:nvSpPr>
          <p:cNvPr id="4" name="Rounded Rectangle 3"/>
          <p:cNvSpPr/>
          <p:nvPr/>
        </p:nvSpPr>
        <p:spPr>
          <a:xfrm>
            <a:off x="731520" y="1554480"/>
            <a:ext cx="10728655" cy="594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62895" cy="502920"/>
          </a:xfrm>
          <a:prstGeom prst="rect">
            <a:avLst/>
          </a:prstGeom>
          <a:noFill/>
        </p:spPr>
        <p:txBody>
          <a:bodyPr wrap="square" tIns="0" bIns="0">
            <a:spAutoFit/>
          </a:bodyPr>
          <a:lstStyle/>
          <a:p>
            <a:pPr algn="r">
              <a:defRPr sz="1100" b="1">
                <a:solidFill>
                  <a:srgbClr val="F8FAFC"/>
                </a:solidFill>
                <a:latin typeface="Tajawal"/>
              </a:defRPr>
            </a:pPr>
            <a:r>
              <a:t>المرحلة 1 : تجهيز بيئة الوكيل الذكي والمهارات (Skills)  |  تحميل وتفعيل المهارات التخصصية وإعداد الحوكمة البرمجية.</a:t>
            </a:r>
          </a:p>
        </p:txBody>
      </p:sp>
      <p:sp>
        <p:nvSpPr>
          <p:cNvPr id="6" name="Rounded Rectangle 5"/>
          <p:cNvSpPr/>
          <p:nvPr/>
        </p:nvSpPr>
        <p:spPr>
          <a:xfrm>
            <a:off x="731520" y="2212848"/>
            <a:ext cx="10728655" cy="594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58568"/>
            <a:ext cx="10362895" cy="502920"/>
          </a:xfrm>
          <a:prstGeom prst="rect">
            <a:avLst/>
          </a:prstGeom>
          <a:noFill/>
        </p:spPr>
        <p:txBody>
          <a:bodyPr wrap="square" tIns="0" bIns="0">
            <a:spAutoFit/>
          </a:bodyPr>
          <a:lstStyle/>
          <a:p>
            <a:pPr algn="r">
              <a:defRPr sz="1100" b="1">
                <a:solidFill>
                  <a:srgbClr val="F8FAFC"/>
                </a:solidFill>
                <a:latin typeface="Tajawal"/>
              </a:defRPr>
            </a:pPr>
            <a:r>
              <a:t>المرحلة 2 : صياغة دستور المشروع والقيود (GEMINI.md)  |  حظر استيراد Flutter في النطاق وإلزامية المعمارية النظيفة SOLID.</a:t>
            </a:r>
          </a:p>
        </p:txBody>
      </p:sp>
      <p:sp>
        <p:nvSpPr>
          <p:cNvPr id="8" name="Rounded Rectangle 7"/>
          <p:cNvSpPr/>
          <p:nvPr/>
        </p:nvSpPr>
        <p:spPr>
          <a:xfrm>
            <a:off x="731520" y="2871215"/>
            <a:ext cx="10728655" cy="594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16935"/>
            <a:ext cx="10362895" cy="502920"/>
          </a:xfrm>
          <a:prstGeom prst="rect">
            <a:avLst/>
          </a:prstGeom>
          <a:noFill/>
        </p:spPr>
        <p:txBody>
          <a:bodyPr wrap="square" tIns="0" bIns="0">
            <a:spAutoFit/>
          </a:bodyPr>
          <a:lstStyle/>
          <a:p>
            <a:pPr algn="r">
              <a:defRPr sz="1100" b="1">
                <a:solidFill>
                  <a:srgbClr val="F8FAFC"/>
                </a:solidFill>
                <a:latin typeface="Tajawal"/>
              </a:defRPr>
            </a:pPr>
            <a:r>
              <a:t>المرحلة 3 : تفكيك كانبان وتوزيع المهام الـ 24 عبر Trello  |  توزيع 4 مسارات ملحمية (Epics) على المهندسين الأربعة بمعايير DoD.</a:t>
            </a:r>
          </a:p>
        </p:txBody>
      </p:sp>
      <p:sp>
        <p:nvSpPr>
          <p:cNvPr id="10" name="Rounded Rectangle 9"/>
          <p:cNvSpPr/>
          <p:nvPr/>
        </p:nvSpPr>
        <p:spPr>
          <a:xfrm>
            <a:off x="731520" y="3529583"/>
            <a:ext cx="10728655" cy="59436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75303"/>
            <a:ext cx="10362895" cy="502920"/>
          </a:xfrm>
          <a:prstGeom prst="rect">
            <a:avLst/>
          </a:prstGeom>
          <a:noFill/>
        </p:spPr>
        <p:txBody>
          <a:bodyPr wrap="square" tIns="0" bIns="0">
            <a:spAutoFit/>
          </a:bodyPr>
          <a:lstStyle/>
          <a:p>
            <a:pPr algn="r">
              <a:defRPr sz="1100" b="1">
                <a:solidFill>
                  <a:srgbClr val="F8FAFC"/>
                </a:solidFill>
                <a:latin typeface="Tajawal"/>
              </a:defRPr>
            </a:pPr>
            <a:r>
              <a:t>المرحلة 4 : تكامل بروتوكول سياق النموذج (MCP Servers)  |  تفعيل dart-mcp-server و github-mcp-server للفحص السكوني والحوكمة.</a:t>
            </a:r>
          </a:p>
        </p:txBody>
      </p:sp>
      <p:sp>
        <p:nvSpPr>
          <p:cNvPr id="12" name="Rounded Rectangle 11"/>
          <p:cNvSpPr/>
          <p:nvPr/>
        </p:nvSpPr>
        <p:spPr>
          <a:xfrm>
            <a:off x="731520" y="4187951"/>
            <a:ext cx="10728655" cy="59436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33671"/>
            <a:ext cx="10362895" cy="502920"/>
          </a:xfrm>
          <a:prstGeom prst="rect">
            <a:avLst/>
          </a:prstGeom>
          <a:noFill/>
        </p:spPr>
        <p:txBody>
          <a:bodyPr wrap="square" tIns="0" bIns="0">
            <a:spAutoFit/>
          </a:bodyPr>
          <a:lstStyle/>
          <a:p>
            <a:pPr algn="r">
              <a:defRPr sz="1100" b="1">
                <a:solidFill>
                  <a:srgbClr val="F8FAFC"/>
                </a:solidFill>
                <a:latin typeface="Tajawal"/>
              </a:defRPr>
            </a:pPr>
            <a:r>
              <a:t>المرحلة 5 : تنفيذ المعمارية النظيفة (Clean Architecture)  |  عزل طبقات Domain و Data و Presentation ونواة كوتلن الأصلية.</a:t>
            </a:r>
          </a:p>
        </p:txBody>
      </p:sp>
      <p:sp>
        <p:nvSpPr>
          <p:cNvPr id="14" name="Rounded Rectangle 13"/>
          <p:cNvSpPr/>
          <p:nvPr/>
        </p:nvSpPr>
        <p:spPr>
          <a:xfrm>
            <a:off x="731520" y="4846319"/>
            <a:ext cx="10728655" cy="594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892039"/>
            <a:ext cx="10362895" cy="502920"/>
          </a:xfrm>
          <a:prstGeom prst="rect">
            <a:avLst/>
          </a:prstGeom>
          <a:noFill/>
        </p:spPr>
        <p:txBody>
          <a:bodyPr wrap="square" tIns="0" bIns="0">
            <a:spAutoFit/>
          </a:bodyPr>
          <a:lstStyle/>
          <a:p>
            <a:pPr algn="r">
              <a:defRPr sz="1100" b="1">
                <a:solidFill>
                  <a:srgbClr val="F8FAFC"/>
                </a:solidFill>
                <a:latin typeface="Tajawal"/>
              </a:defRPr>
            </a:pPr>
            <a:r>
              <a:t>المرحلة 6 : الاختبارات الآلية والتصميم الدفاعي (QA &amp; Tests)  |  اجتياز 11/11 اختبار وحدة آلي ومعالجة وضع الطيران والأذونات.</a:t>
            </a:r>
          </a:p>
        </p:txBody>
      </p:sp>
      <p:sp>
        <p:nvSpPr>
          <p:cNvPr id="16" name="Rounded Rectangle 15"/>
          <p:cNvSpPr/>
          <p:nvPr/>
        </p:nvSpPr>
        <p:spPr>
          <a:xfrm>
            <a:off x="731520" y="5504687"/>
            <a:ext cx="10728655" cy="594360"/>
          </a:xfrm>
          <a:prstGeom prst="round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550407"/>
            <a:ext cx="10362895" cy="502920"/>
          </a:xfrm>
          <a:prstGeom prst="rect">
            <a:avLst/>
          </a:prstGeom>
          <a:noFill/>
        </p:spPr>
        <p:txBody>
          <a:bodyPr wrap="square" tIns="0" bIns="0">
            <a:spAutoFit/>
          </a:bodyPr>
          <a:lstStyle/>
          <a:p>
            <a:pPr algn="r">
              <a:defRPr sz="1100" b="1">
                <a:solidFill>
                  <a:srgbClr val="F8FAFC"/>
                </a:solidFill>
                <a:latin typeface="Tajawal"/>
              </a:defRPr>
            </a:pPr>
            <a:r>
              <a:t>المرحلة 7 : الإصدار والتوثيق والاعتماد الأكاديمي الشامل  |  إصدار APK والتقرير المحكم في 18 صفحة تحت إشراف د. ساهر الهمداني.</a:t>
            </a:r>
          </a:p>
        </p:txBody>
      </p:sp>
      <p:sp>
        <p:nvSpPr>
          <p:cNvPr id="18" name="TextBox 17"/>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3 من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المواصفات والحدود الهندسية</a:t>
            </a:r>
          </a:p>
          <a:p>
            <a:pPr algn="r">
              <a:defRPr sz="2400" b="1">
                <a:solidFill>
                  <a:srgbClr val="F8FAFC"/>
                </a:solidFill>
                <a:latin typeface="Cairo"/>
              </a:defRPr>
            </a:pPr>
            <a:r>
              <a:t>3. وثيقة مواصفات النظام وحدود العتاد الصارمة (SRS Boundaries)</a:t>
            </a:r>
          </a:p>
        </p:txBody>
      </p:sp>
      <p:sp>
        <p:nvSpPr>
          <p:cNvPr id="4" name="Rounded Rectangle 3"/>
          <p:cNvSpPr/>
          <p:nvPr/>
        </p:nvSpPr>
        <p:spPr>
          <a:xfrm>
            <a:off x="731520" y="1645920"/>
            <a:ext cx="329184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926080" cy="457200"/>
          </a:xfrm>
          <a:prstGeom prst="rect">
            <a:avLst/>
          </a:prstGeom>
          <a:noFill/>
        </p:spPr>
        <p:txBody>
          <a:bodyPr wrap="square" lIns="0" tIns="0" rIns="0" bIns="0">
            <a:spAutoFit/>
          </a:bodyPr>
          <a:lstStyle/>
          <a:p>
            <a:pPr algn="r">
              <a:defRPr sz="1400" b="1">
                <a:solidFill>
                  <a:srgbClr val="00F0FF"/>
                </a:solidFill>
                <a:latin typeface="Cairo"/>
              </a:defRPr>
            </a:pPr>
            <a:r>
              <a:t>داخل النطاق الهندسي (In-Scope)</a:t>
            </a:r>
          </a:p>
        </p:txBody>
      </p:sp>
      <p:sp>
        <p:nvSpPr>
          <p:cNvPr id="6" name="TextBox 5"/>
          <p:cNvSpPr txBox="1"/>
          <p:nvPr/>
        </p:nvSpPr>
        <p:spPr>
          <a:xfrm>
            <a:off x="914400" y="2286000"/>
            <a:ext cx="2926080" cy="3566160"/>
          </a:xfrm>
          <a:prstGeom prst="rect">
            <a:avLst/>
          </a:prstGeom>
          <a:noFill/>
        </p:spPr>
        <p:txBody>
          <a:bodyPr wrap="square">
            <a:spAutoFit/>
          </a:bodyPr>
          <a:lstStyle/>
          <a:p/>
          <a:p>
            <a:pPr algn="r">
              <a:defRPr sz="1000">
                <a:solidFill>
                  <a:srgbClr val="F8FAFC"/>
                </a:solidFill>
                <a:latin typeface="Tajawal"/>
              </a:defRPr>
            </a:pPr>
            <a:r>
              <a:t>✔ قراءة نمط الشبكة الفعلي عبر قنوات كوتلن Platform Channel.</a:t>
            </a:r>
          </a:p>
          <a:p>
            <a:pPr algn="r">
              <a:defRPr sz="1000">
                <a:solidFill>
                  <a:srgbClr val="F8FAFC"/>
                </a:solidFill>
                <a:latin typeface="Tajawal"/>
              </a:defRPr>
            </a:pPr>
            <a:r>
              <a:t>✔ استخراج قوة الإشارة الحية بالـ dBm و ASU ونوع التقنية (LTE/HSPA/GSM).</a:t>
            </a:r>
          </a:p>
          <a:p>
            <a:pPr algn="r">
              <a:defRPr sz="1000">
                <a:solidFill>
                  <a:srgbClr val="F8FAFC"/>
                </a:solidFill>
                <a:latin typeface="Tajawal"/>
              </a:defRPr>
            </a:pPr>
            <a:r>
              <a:t>✔ توفير 5 إعدادات مسبقة لشبكات الاتصالات في اليمن (سبأفون، يو، يمن موبايل).</a:t>
            </a:r>
          </a:p>
          <a:p>
            <a:pPr algn="r">
              <a:defRPr sz="1000">
                <a:solidFill>
                  <a:srgbClr val="F8FAFC"/>
                </a:solidFill>
                <a:latin typeface="Tajawal"/>
              </a:defRPr>
            </a:pPr>
            <a:r>
              <a:t>✔ فتح شاشة Phone Info الأصلية بتسلسل Fallback متين في الأجهزة غير المروّتة.</a:t>
            </a:r>
          </a:p>
          <a:p>
            <a:pPr algn="r">
              <a:defRPr sz="1000">
                <a:solidFill>
                  <a:srgbClr val="F8FAFC"/>
                </a:solidFill>
                <a:latin typeface="Tajawal"/>
              </a:defRPr>
            </a:pPr>
            <a:r>
              <a:t>✔ التنفيذ الصامت المباشر لأمر تحويل التردد في الأجهزة المروّتة (Root).</a:t>
            </a:r>
          </a:p>
          <a:p>
            <a:pPr algn="r">
              <a:defRPr sz="1000">
                <a:solidFill>
                  <a:srgbClr val="F8FAFC"/>
                </a:solidFill>
                <a:latin typeface="Tajawal"/>
              </a:defRPr>
            </a:pPr>
            <a:r>
              <a:t>✔ استشعار فوري وتام لوضع الطيران (Airplane Mode) وإطفاء مؤشرات الراديو.</a:t>
            </a:r>
          </a:p>
        </p:txBody>
      </p:sp>
      <p:sp>
        <p:nvSpPr>
          <p:cNvPr id="7" name="Rounded Rectangle 6"/>
          <p:cNvSpPr/>
          <p:nvPr/>
        </p:nvSpPr>
        <p:spPr>
          <a:xfrm>
            <a:off x="4389120" y="1645920"/>
            <a:ext cx="329184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83080"/>
            <a:ext cx="2926080" cy="457200"/>
          </a:xfrm>
          <a:prstGeom prst="rect">
            <a:avLst/>
          </a:prstGeom>
          <a:noFill/>
        </p:spPr>
        <p:txBody>
          <a:bodyPr wrap="square" lIns="0" tIns="0" rIns="0" bIns="0">
            <a:spAutoFit/>
          </a:bodyPr>
          <a:lstStyle/>
          <a:p>
            <a:pPr algn="r">
              <a:defRPr sz="1400" b="1">
                <a:solidFill>
                  <a:srgbClr val="00F0FF"/>
                </a:solidFill>
                <a:latin typeface="Cairo"/>
              </a:defRPr>
            </a:pPr>
            <a:r>
              <a:t>خارج النطاق الهندسي (Out-of-Scope)</a:t>
            </a:r>
          </a:p>
        </p:txBody>
      </p:sp>
      <p:sp>
        <p:nvSpPr>
          <p:cNvPr id="9" name="TextBox 8"/>
          <p:cNvSpPr txBox="1"/>
          <p:nvPr/>
        </p:nvSpPr>
        <p:spPr>
          <a:xfrm>
            <a:off x="4572000" y="2286000"/>
            <a:ext cx="2926080" cy="3566160"/>
          </a:xfrm>
          <a:prstGeom prst="rect">
            <a:avLst/>
          </a:prstGeom>
          <a:noFill/>
        </p:spPr>
        <p:txBody>
          <a:bodyPr wrap="square">
            <a:spAutoFit/>
          </a:bodyPr>
          <a:lstStyle/>
          <a:p/>
          <a:p>
            <a:pPr algn="r">
              <a:defRPr sz="1050">
                <a:solidFill>
                  <a:srgbClr val="94A3B8"/>
                </a:solidFill>
                <a:latin typeface="Tajawal"/>
              </a:defRPr>
            </a:pPr>
            <a:r>
              <a:t>⛔ التحكم بترددات شبكات الواي فاي (Wi-Fi) أو البلوتوث نهائياً.</a:t>
            </a:r>
          </a:p>
          <a:p>
            <a:pPr algn="r">
              <a:defRPr sz="1050">
                <a:solidFill>
                  <a:srgbClr val="94A3B8"/>
                </a:solidFill>
                <a:latin typeface="Tajawal"/>
              </a:defRPr>
            </a:pPr>
            <a:r>
              <a:t>⛔ تخطي قيود حماية مصنعي العتاد (Samsung Knox) بدون روت خرقاً للأمان.</a:t>
            </a:r>
          </a:p>
          <a:p>
            <a:pPr algn="r">
              <a:defRPr sz="1050">
                <a:solidFill>
                  <a:srgbClr val="94A3B8"/>
                </a:solidFill>
                <a:latin typeface="Tajawal"/>
              </a:defRPr>
            </a:pPr>
            <a:r>
              <a:t>⛔ إرسال أي إحصائيات عبر الإنترنت (تطبيق أوفلاين 100% لحماية الخصوصية).</a:t>
            </a:r>
          </a:p>
          <a:p>
            <a:pPr algn="r">
              <a:defRPr sz="1050">
                <a:solidFill>
                  <a:srgbClr val="94A3B8"/>
                </a:solidFill>
                <a:latin typeface="Tajawal"/>
              </a:defRPr>
            </a:pPr>
            <a:r>
              <a:t>⛔ تعديل ملفات النظام المحمية بالنواة /system أو كسر حماية IMEI.</a:t>
            </a:r>
          </a:p>
          <a:p>
            <a:pPr algn="r">
              <a:defRPr sz="1050">
                <a:solidFill>
                  <a:srgbClr val="94A3B8"/>
                </a:solidFill>
                <a:latin typeface="Tajawal"/>
              </a:defRPr>
            </a:pPr>
            <a:r>
              <a:t>⛔ إجبار المودم على الاتصال ببرج خلوي يبعد عن النطاق الفيزيائي للتردد.</a:t>
            </a:r>
          </a:p>
        </p:txBody>
      </p:sp>
      <p:sp>
        <p:nvSpPr>
          <p:cNvPr id="10" name="Rounded Rectangle 9"/>
          <p:cNvSpPr/>
          <p:nvPr/>
        </p:nvSpPr>
        <p:spPr>
          <a:xfrm>
            <a:off x="8046720" y="1645920"/>
            <a:ext cx="338328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783080"/>
            <a:ext cx="3017520" cy="457200"/>
          </a:xfrm>
          <a:prstGeom prst="rect">
            <a:avLst/>
          </a:prstGeom>
          <a:noFill/>
        </p:spPr>
        <p:txBody>
          <a:bodyPr wrap="square" lIns="0" tIns="0" rIns="0" bIns="0">
            <a:spAutoFit/>
          </a:bodyPr>
          <a:lstStyle/>
          <a:p>
            <a:pPr algn="r">
              <a:defRPr sz="1400" b="1">
                <a:solidFill>
                  <a:srgbClr val="00F0FF"/>
                </a:solidFill>
                <a:latin typeface="Cairo"/>
              </a:defRPr>
            </a:pPr>
            <a:r>
              <a:t>جدار الحماية المصنعي (OEM Wall)</a:t>
            </a:r>
          </a:p>
        </p:txBody>
      </p:sp>
      <p:sp>
        <p:nvSpPr>
          <p:cNvPr id="12" name="TextBox 11"/>
          <p:cNvSpPr txBox="1"/>
          <p:nvPr/>
        </p:nvSpPr>
        <p:spPr>
          <a:xfrm>
            <a:off x="8229600" y="2286000"/>
            <a:ext cx="3017520" cy="3566160"/>
          </a:xfrm>
          <a:prstGeom prst="rect">
            <a:avLst/>
          </a:prstGeom>
          <a:noFill/>
        </p:spPr>
        <p:txBody>
          <a:bodyPr wrap="square">
            <a:spAutoFit/>
          </a:bodyPr>
          <a:lstStyle/>
          <a:p/>
          <a:p>
            <a:pPr algn="r">
              <a:defRPr sz="1050">
                <a:solidFill>
                  <a:srgbClr val="00F0FF"/>
                </a:solidFill>
                <a:latin typeface="Tajawal"/>
              </a:defRPr>
            </a:pPr>
            <a:r>
              <a:t>🔒 صلاحية MODIFY_PHONE_STATE:</a:t>
            </a:r>
            <a:br/>
            <a:r>
              <a:t>محمية بنظام أندرويد وتمنح فقط لتطبيقات النظام System Signature Apps.</a:t>
            </a:r>
            <a:br/>
          </a:p>
          <a:p>
            <a:pPr algn="r">
              <a:defRPr sz="1050">
                <a:solidFill>
                  <a:srgbClr val="00F0FF"/>
                </a:solidFill>
                <a:latin typeface="Tajawal"/>
              </a:defRPr>
            </a:pPr>
            <a:r>
              <a:t>🔒 قيود Samsung OneUI &amp; Knox:</a:t>
            </a:r>
            <a:br/>
            <a:r>
              <a:t>حظر التغيير الصامت لمنع حرمان المستخدم من مكالمات الطوارئ 911/112.</a:t>
            </a:r>
            <a:br/>
          </a:p>
          <a:p>
            <a:pPr algn="r">
              <a:defRPr sz="1050">
                <a:solidFill>
                  <a:srgbClr val="00F0FF"/>
                </a:solidFill>
                <a:latin typeface="Tajawal"/>
              </a:defRPr>
            </a:pPr>
            <a:r>
              <a:t>🔒 حل NET Mode المبتكر:</a:t>
            </a:r>
            <a:br/>
            <a:r>
              <a:t>بنية هجينة تجمع بين الروت التلقائي وشاشات الإعدادات العميقة بحزم بديلة متعددة تضمن النجاح 100%.</a:t>
            </a:r>
            <a:br/>
          </a:p>
        </p:txBody>
      </p:sp>
      <p:sp>
        <p:nvSpPr>
          <p:cNvPr id="13" name="TextBox 12"/>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4 من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حوكمة الذكاء الاصطناعي والأتمتة</a:t>
            </a:r>
          </a:p>
          <a:p>
            <a:pPr algn="r">
              <a:defRPr sz="2400" b="1">
                <a:solidFill>
                  <a:srgbClr val="F8FAFC"/>
                </a:solidFill>
                <a:latin typeface="Cairo"/>
              </a:defRPr>
            </a:pPr>
            <a:r>
              <a:t>4. منظومة بروتوكول سياق النموذج المتطورة (Model Context Protocol - MCP)</a:t>
            </a:r>
          </a:p>
        </p:txBody>
      </p:sp>
      <p:sp>
        <p:nvSpPr>
          <p:cNvPr id="4" name="Rounded Rectangle 3"/>
          <p:cNvSpPr/>
          <p:nvPr/>
        </p:nvSpPr>
        <p:spPr>
          <a:xfrm>
            <a:off x="731520" y="1645920"/>
            <a:ext cx="512064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754880" cy="457200"/>
          </a:xfrm>
          <a:prstGeom prst="rect">
            <a:avLst/>
          </a:prstGeom>
          <a:noFill/>
        </p:spPr>
        <p:txBody>
          <a:bodyPr wrap="square" lIns="0" tIns="0" rIns="0" bIns="0">
            <a:spAutoFit/>
          </a:bodyPr>
          <a:lstStyle/>
          <a:p>
            <a:pPr algn="r">
              <a:defRPr sz="1400" b="1">
                <a:solidFill>
                  <a:srgbClr val="00F0FF"/>
                </a:solidFill>
                <a:latin typeface="Cairo"/>
              </a:defRPr>
            </a:pPr>
            <a:r>
              <a:t>خادم دمج دارت (dart-mcp-server)</a:t>
            </a:r>
          </a:p>
        </p:txBody>
      </p:sp>
      <p:sp>
        <p:nvSpPr>
          <p:cNvPr id="6" name="TextBox 5"/>
          <p:cNvSpPr txBox="1"/>
          <p:nvPr/>
        </p:nvSpPr>
        <p:spPr>
          <a:xfrm>
            <a:off x="914400" y="2286000"/>
            <a:ext cx="4754880" cy="3566160"/>
          </a:xfrm>
          <a:prstGeom prst="rect">
            <a:avLst/>
          </a:prstGeom>
          <a:noFill/>
        </p:spPr>
        <p:txBody>
          <a:bodyPr wrap="square">
            <a:spAutoFit/>
          </a:bodyPr>
          <a:lstStyle/>
          <a:p/>
          <a:p>
            <a:pPr algn="r">
              <a:defRPr sz="1100">
                <a:solidFill>
                  <a:srgbClr val="F8FAFC"/>
                </a:solidFill>
                <a:latin typeface="Tajawal"/>
              </a:defRPr>
            </a:pPr>
            <a:r>
              <a:t>🚀 فحص الكود السكوني (Static Analysis):</a:t>
            </a:r>
            <a:br/>
            <a:r>
              <a:t>استدعاء analyze_files لمسح شجرة الكود واكتشاف أخطاء الأنواع والمخالفات فورياً.</a:t>
            </a:r>
            <a:br/>
          </a:p>
          <a:p>
            <a:pPr algn="r">
              <a:defRPr sz="1100">
                <a:solidFill>
                  <a:srgbClr val="F8FAFC"/>
                </a:solidFill>
                <a:latin typeface="Tajawal"/>
              </a:defRPr>
            </a:pPr>
            <a:r>
              <a:t>🚀 تشغيل الاختبارات الآلية (Automated Testing):</a:t>
            </a:r>
            <a:br/>
            <a:r>
              <a:t>تنفيذ run_tests لتشغيل 11 اختبار وحدة والتحقق من اجتيازها 100% آلياً.</a:t>
            </a:r>
            <a:br/>
          </a:p>
          <a:p>
            <a:pPr algn="r">
              <a:defRPr sz="1100">
                <a:solidFill>
                  <a:srgbClr val="F8FAFC"/>
                </a:solidFill>
                <a:latin typeface="Tajawal"/>
              </a:defRPr>
            </a:pPr>
            <a:r>
              <a:t>🚀 التفتيش البصري للهيكل (Widget Tree):</a:t>
            </a:r>
            <a:br/>
            <a:r>
              <a:t>فحص عناصر الواجهة وتراكبها عبر get_widget_tree وضمان مطابقتها للمواصفات.</a:t>
            </a:r>
            <a:br/>
          </a:p>
          <a:p>
            <a:pPr algn="r">
              <a:defRPr sz="1100">
                <a:solidFill>
                  <a:srgbClr val="F8FAFC"/>
                </a:solidFill>
                <a:latin typeface="Tajawal"/>
              </a:defRPr>
            </a:pPr>
            <a:r>
              <a:t>🚀 تشخيص الأخطاء وقت التشغيل (Runtime Diagnostics):</a:t>
            </a:r>
            <a:br/>
            <a:r>
              <a:t>مراقبة الـ Event Loop واقتناص استثناءات المنصة قبل الوصول للمستخدم.</a:t>
            </a:r>
            <a:br/>
          </a:p>
        </p:txBody>
      </p:sp>
      <p:sp>
        <p:nvSpPr>
          <p:cNvPr id="7" name="Rounded Rectangle 6"/>
          <p:cNvSpPr/>
          <p:nvPr/>
        </p:nvSpPr>
        <p:spPr>
          <a:xfrm>
            <a:off x="6217920" y="1645920"/>
            <a:ext cx="521208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57200"/>
          </a:xfrm>
          <a:prstGeom prst="rect">
            <a:avLst/>
          </a:prstGeom>
          <a:noFill/>
        </p:spPr>
        <p:txBody>
          <a:bodyPr wrap="square" lIns="0" tIns="0" rIns="0" bIns="0">
            <a:spAutoFit/>
          </a:bodyPr>
          <a:lstStyle/>
          <a:p>
            <a:pPr algn="r">
              <a:defRPr sz="1400" b="1">
                <a:solidFill>
                  <a:srgbClr val="00F0FF"/>
                </a:solidFill>
                <a:latin typeface="Cairo"/>
              </a:defRPr>
            </a:pPr>
            <a:r>
              <a:t>خادم حوكمة جيت هب (github-mcp-server)</a:t>
            </a:r>
          </a:p>
        </p:txBody>
      </p:sp>
      <p:sp>
        <p:nvSpPr>
          <p:cNvPr id="9" name="TextBox 8"/>
          <p:cNvSpPr txBox="1"/>
          <p:nvPr/>
        </p:nvSpPr>
        <p:spPr>
          <a:xfrm>
            <a:off x="6400800" y="2286000"/>
            <a:ext cx="4846320" cy="3566160"/>
          </a:xfrm>
          <a:prstGeom prst="rect">
            <a:avLst/>
          </a:prstGeom>
          <a:noFill/>
        </p:spPr>
        <p:txBody>
          <a:bodyPr wrap="square">
            <a:spAutoFit/>
          </a:bodyPr>
          <a:lstStyle/>
          <a:p/>
          <a:p>
            <a:pPr algn="r">
              <a:defRPr sz="1100">
                <a:solidFill>
                  <a:srgbClr val="F8FAFC"/>
                </a:solidFill>
                <a:latin typeface="Tajawal"/>
              </a:defRPr>
            </a:pPr>
            <a:r>
              <a:t>🛡️ إدارة الفروع الملحمية (Branch Automation):</a:t>
            </a:r>
            <a:br/>
            <a:r>
              <a:t>إنشاء وتتبع فروع العمليات feature branches وفق اتفاقيات التسمية المعتمدة.</a:t>
            </a:r>
            <a:br/>
          </a:p>
          <a:p>
            <a:pPr algn="r">
              <a:defRPr sz="1100">
                <a:solidFill>
                  <a:srgbClr val="F8FAFC"/>
                </a:solidFill>
                <a:latin typeface="Tajawal"/>
              </a:defRPr>
            </a:pPr>
            <a:r>
              <a:t>🛡️ حوكمة طلبات السحب (PR Management):</a:t>
            </a:r>
            <a:br/>
            <a:r>
              <a:t>إنشاء Pull Requests وربطها برقم الـ Issue ومعايير القبول في كانبان.</a:t>
            </a:r>
            <a:br/>
          </a:p>
          <a:p>
            <a:pPr algn="r">
              <a:defRPr sz="1100">
                <a:solidFill>
                  <a:srgbClr val="F8FAFC"/>
                </a:solidFill>
                <a:latin typeface="Tajawal"/>
              </a:defRPr>
            </a:pPr>
            <a:r>
              <a:t>🛡️ الفحص الآلي للالتزامات (Commit Verification):</a:t>
            </a:r>
            <a:br/>
            <a:r>
              <a:t>التحقق من سلامة رسائل الالتزام والتوافق مع نظام Semantic Versioning.</a:t>
            </a:r>
            <a:br/>
          </a:p>
          <a:p>
            <a:pPr algn="r">
              <a:defRPr sz="1100">
                <a:solidFill>
                  <a:srgbClr val="F8FAFC"/>
                </a:solidFill>
                <a:latin typeface="Tajawal"/>
              </a:defRPr>
            </a:pPr>
            <a:r>
              <a:t>🛡️ حماية الفرع الرئيسي (Branch Protection):</a:t>
            </a:r>
            <a:br/>
            <a:r>
              <a:t>منع دمج أي كود في main إلا بعد اجتياز فحص دارت وموافقة المراجع.</a:t>
            </a:r>
            <a:br/>
          </a:p>
        </p:txBody>
      </p:sp>
      <p:sp>
        <p:nvSpPr>
          <p:cNvPr id="10" name="TextBox 9"/>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5 من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الإدارة الرشيقة وتوزيع الأدوار</a:t>
            </a:r>
          </a:p>
          <a:p>
            <a:pPr algn="r">
              <a:defRPr sz="2400" b="1">
                <a:solidFill>
                  <a:srgbClr val="F8FAFC"/>
                </a:solidFill>
                <a:latin typeface="Cairo"/>
              </a:defRPr>
            </a:pPr>
            <a:r>
              <a:t>5. لوحة كانبان وهيكلية توزيع المهام الـ 24 على المهندسين الأربعة</a:t>
            </a:r>
          </a:p>
        </p:txBody>
      </p:sp>
      <p:sp>
        <p:nvSpPr>
          <p:cNvPr id="4" name="Rounded Rectangle 3"/>
          <p:cNvSpPr/>
          <p:nvPr/>
        </p:nvSpPr>
        <p:spPr>
          <a:xfrm>
            <a:off x="731520" y="1645920"/>
            <a:ext cx="251460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2148840" cy="457200"/>
          </a:xfrm>
          <a:prstGeom prst="rect">
            <a:avLst/>
          </a:prstGeom>
          <a:noFill/>
        </p:spPr>
        <p:txBody>
          <a:bodyPr wrap="square" lIns="0" tIns="0" rIns="0" bIns="0">
            <a:spAutoFit/>
          </a:bodyPr>
          <a:lstStyle/>
          <a:p>
            <a:pPr algn="r">
              <a:defRPr sz="1400" b="1">
                <a:solidFill>
                  <a:srgbClr val="00F0FF"/>
                </a:solidFill>
                <a:latin typeface="Cairo"/>
              </a:defRPr>
            </a:pPr>
            <a:r>
              <a:t>1. م. أحمد الأهدل</a:t>
            </a:r>
          </a:p>
        </p:txBody>
      </p:sp>
      <p:sp>
        <p:nvSpPr>
          <p:cNvPr id="6" name="TextBox 5"/>
          <p:cNvSpPr txBox="1"/>
          <p:nvPr/>
        </p:nvSpPr>
        <p:spPr>
          <a:xfrm>
            <a:off x="868680" y="2194560"/>
            <a:ext cx="2240280" cy="3657600"/>
          </a:xfrm>
          <a:prstGeom prst="rect">
            <a:avLst/>
          </a:prstGeom>
          <a:noFill/>
        </p:spPr>
        <p:txBody>
          <a:bodyPr wrap="square">
            <a:spAutoFit/>
          </a:bodyPr>
          <a:lstStyle/>
          <a:p>
            <a:pPr algn="r">
              <a:defRPr sz="950" b="1">
                <a:solidFill>
                  <a:srgbClr val="00F0FF"/>
                </a:solidFill>
                <a:latin typeface="Cairo"/>
              </a:defRPr>
            </a:pPr>
            <a:r>
              <a:t>Scrum Master &amp; Docs Lead</a:t>
            </a:r>
            <a:br/>
            <a:r>
              <a:t>Epic 1: الإعداد والحوكمة (Issues #1 - #6)</a:t>
            </a:r>
          </a:p>
          <a:p>
            <a:pPr algn="r">
              <a:defRPr sz="850">
                <a:solidFill>
                  <a:srgbClr val="F8FAFC"/>
                </a:solidFill>
                <a:latin typeface="Tajawal"/>
              </a:defRPr>
            </a:pPr>
            <a:r>
              <a:t>• تحميل ودمج المهارات التخصصية (Skills).</a:t>
            </a:r>
          </a:p>
          <a:p>
            <a:pPr algn="r">
              <a:defRPr sz="850">
                <a:solidFill>
                  <a:srgbClr val="F8FAFC"/>
                </a:solidFill>
                <a:latin typeface="Tajawal"/>
              </a:defRPr>
            </a:pPr>
            <a:r>
              <a:t>• صياغة وثيقة الـ SRS الشاملة.</a:t>
            </a:r>
          </a:p>
          <a:p>
            <a:pPr algn="r">
              <a:defRPr sz="850">
                <a:solidFill>
                  <a:srgbClr val="F8FAFC"/>
                </a:solidFill>
                <a:latin typeface="Tajawal"/>
              </a:defRPr>
            </a:pPr>
            <a:r>
              <a:t>• توثيق قصص المستخدمين ومعايير القبول.</a:t>
            </a:r>
          </a:p>
          <a:p>
            <a:pPr algn="r">
              <a:defRPr sz="850">
                <a:solidFill>
                  <a:srgbClr val="F8FAFC"/>
                </a:solidFill>
                <a:latin typeface="Tajawal"/>
              </a:defRPr>
            </a:pPr>
            <a:r>
              <a:t>• كتابة دستور الوكيل الذكي GEMINI.md.</a:t>
            </a:r>
          </a:p>
          <a:p>
            <a:pPr algn="r">
              <a:defRPr sz="850">
                <a:solidFill>
                  <a:srgbClr val="F8FAFC"/>
                </a:solidFill>
                <a:latin typeface="Tajawal"/>
              </a:defRPr>
            </a:pPr>
            <a:r>
              <a:t>• إعداد لوحة كانبان وتدفق Git Workflow.</a:t>
            </a:r>
          </a:p>
          <a:p>
            <a:pPr algn="r">
              <a:defRPr sz="850">
                <a:solidFill>
                  <a:srgbClr val="F8FAFC"/>
                </a:solidFill>
                <a:latin typeface="Tajawal"/>
              </a:defRPr>
            </a:pPr>
            <a:r>
              <a:t>• إعداد التقرير المرجعي وسيناريو المناقشة.</a:t>
            </a:r>
          </a:p>
        </p:txBody>
      </p:sp>
      <p:sp>
        <p:nvSpPr>
          <p:cNvPr id="7" name="Rounded Rectangle 6"/>
          <p:cNvSpPr/>
          <p:nvPr/>
        </p:nvSpPr>
        <p:spPr>
          <a:xfrm>
            <a:off x="3429000" y="1645920"/>
            <a:ext cx="251460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783080"/>
            <a:ext cx="2148840" cy="457200"/>
          </a:xfrm>
          <a:prstGeom prst="rect">
            <a:avLst/>
          </a:prstGeom>
          <a:noFill/>
        </p:spPr>
        <p:txBody>
          <a:bodyPr wrap="square" lIns="0" tIns="0" rIns="0" bIns="0">
            <a:spAutoFit/>
          </a:bodyPr>
          <a:lstStyle/>
          <a:p>
            <a:pPr algn="r">
              <a:defRPr sz="1400" b="1">
                <a:solidFill>
                  <a:srgbClr val="00F0FF"/>
                </a:solidFill>
                <a:latin typeface="Cairo"/>
              </a:defRPr>
            </a:pPr>
            <a:r>
              <a:t>2. م. محمد علي / الدعيس</a:t>
            </a:r>
          </a:p>
        </p:txBody>
      </p:sp>
      <p:sp>
        <p:nvSpPr>
          <p:cNvPr id="9" name="TextBox 8"/>
          <p:cNvSpPr txBox="1"/>
          <p:nvPr/>
        </p:nvSpPr>
        <p:spPr>
          <a:xfrm>
            <a:off x="3566160" y="2194560"/>
            <a:ext cx="2240280" cy="3657600"/>
          </a:xfrm>
          <a:prstGeom prst="rect">
            <a:avLst/>
          </a:prstGeom>
          <a:noFill/>
        </p:spPr>
        <p:txBody>
          <a:bodyPr wrap="square">
            <a:spAutoFit/>
          </a:bodyPr>
          <a:lstStyle/>
          <a:p>
            <a:pPr algn="r">
              <a:defRPr sz="950" b="1">
                <a:solidFill>
                  <a:srgbClr val="00F0FF"/>
                </a:solidFill>
                <a:latin typeface="Cairo"/>
              </a:defRPr>
            </a:pPr>
            <a:r>
              <a:t>Core Domain &amp; Architect</a:t>
            </a:r>
            <a:br/>
            <a:r>
              <a:t>Epic 2: طبقة النطاق والمعمارية (Issues #7 - #12)</a:t>
            </a:r>
          </a:p>
          <a:p>
            <a:pPr algn="r">
              <a:defRPr sz="850">
                <a:solidFill>
                  <a:srgbClr val="F8FAFC"/>
                </a:solidFill>
                <a:latin typeface="Tajawal"/>
              </a:defRPr>
            </a:pPr>
            <a:r>
              <a:t>• بناء كينونة NetworkMode كود دارت نقي 100%.</a:t>
            </a:r>
          </a:p>
          <a:p>
            <a:pPr algn="r">
              <a:defRPr sz="850">
                <a:solidFill>
                  <a:srgbClr val="F8FAFC"/>
                </a:solidFill>
                <a:latin typeface="Tajawal"/>
              </a:defRPr>
            </a:pPr>
            <a:r>
              <a:t>• بناء كينونة NetworkInfo للبيانات الحية.</a:t>
            </a:r>
          </a:p>
          <a:p>
            <a:pPr algn="r">
              <a:defRPr sz="850">
                <a:solidFill>
                  <a:srgbClr val="F8FAFC"/>
                </a:solidFill>
                <a:latin typeface="Tajawal"/>
              </a:defRPr>
            </a:pPr>
            <a:r>
              <a:t>• صياغة واجهة المستودع NetworkRepository.</a:t>
            </a:r>
          </a:p>
          <a:p>
            <a:pPr algn="r">
              <a:defRPr sz="850">
                <a:solidFill>
                  <a:srgbClr val="F8FAFC"/>
                </a:solidFill>
                <a:latin typeface="Tajawal"/>
              </a:defRPr>
            </a:pPr>
            <a:r>
              <a:t>• تنفيذ حالة الاستخدام GetCurrentModeUseCase.</a:t>
            </a:r>
          </a:p>
          <a:p>
            <a:pPr algn="r">
              <a:defRPr sz="850">
                <a:solidFill>
                  <a:srgbClr val="F8FAFC"/>
                </a:solidFill>
                <a:latin typeface="Tajawal"/>
              </a:defRPr>
            </a:pPr>
            <a:r>
              <a:t>• تنفيذ حالة الاستخدام SetNetworkModeUseCase.</a:t>
            </a:r>
          </a:p>
          <a:p>
            <a:pPr algn="r">
              <a:defRPr sz="850">
                <a:solidFill>
                  <a:srgbClr val="F8FAFC"/>
                </a:solidFill>
                <a:latin typeface="Tajawal"/>
              </a:defRPr>
            </a:pPr>
            <a:r>
              <a:t>• تطبيق اختبارات الوحدة الشاملة للنطاق.</a:t>
            </a:r>
          </a:p>
        </p:txBody>
      </p:sp>
      <p:sp>
        <p:nvSpPr>
          <p:cNvPr id="10" name="Rounded Rectangle 9"/>
          <p:cNvSpPr/>
          <p:nvPr/>
        </p:nvSpPr>
        <p:spPr>
          <a:xfrm>
            <a:off x="6126480" y="1645920"/>
            <a:ext cx="251460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83080"/>
            <a:ext cx="2148840" cy="457200"/>
          </a:xfrm>
          <a:prstGeom prst="rect">
            <a:avLst/>
          </a:prstGeom>
          <a:noFill/>
        </p:spPr>
        <p:txBody>
          <a:bodyPr wrap="square" lIns="0" tIns="0" rIns="0" bIns="0">
            <a:spAutoFit/>
          </a:bodyPr>
          <a:lstStyle/>
          <a:p>
            <a:pPr algn="r">
              <a:defRPr sz="1400" b="1">
                <a:solidFill>
                  <a:srgbClr val="00F0FF"/>
                </a:solidFill>
                <a:latin typeface="Cairo"/>
              </a:defRPr>
            </a:pPr>
            <a:r>
              <a:t>3. م. يوسف خيري</a:t>
            </a:r>
          </a:p>
        </p:txBody>
      </p:sp>
      <p:sp>
        <p:nvSpPr>
          <p:cNvPr id="12" name="TextBox 11"/>
          <p:cNvSpPr txBox="1"/>
          <p:nvPr/>
        </p:nvSpPr>
        <p:spPr>
          <a:xfrm>
            <a:off x="6263640" y="2194560"/>
            <a:ext cx="2240280" cy="3657600"/>
          </a:xfrm>
          <a:prstGeom prst="rect">
            <a:avLst/>
          </a:prstGeom>
          <a:noFill/>
        </p:spPr>
        <p:txBody>
          <a:bodyPr wrap="square">
            <a:spAutoFit/>
          </a:bodyPr>
          <a:lstStyle/>
          <a:p>
            <a:pPr algn="r">
              <a:defRPr sz="950" b="1">
                <a:solidFill>
                  <a:srgbClr val="00F0FF"/>
                </a:solidFill>
                <a:latin typeface="Cairo"/>
              </a:defRPr>
            </a:pPr>
            <a:r>
              <a:t>Data &amp; Platform Engineer</a:t>
            </a:r>
            <a:br/>
            <a:r>
              <a:t>Epic 3: طبقة البيانات والمودم (Issues #13 - #18)</a:t>
            </a:r>
          </a:p>
          <a:p>
            <a:pPr algn="r">
              <a:defRPr sz="850">
                <a:solidFill>
                  <a:srgbClr val="F8FAFC"/>
                </a:solidFill>
                <a:latin typeface="Tajawal"/>
              </a:defRPr>
            </a:pPr>
            <a:r>
              <a:t>• بناء مصدر البيانات RadioDeviceDataSource.</a:t>
            </a:r>
          </a:p>
          <a:p>
            <a:pPr algn="r">
              <a:defRPr sz="850">
                <a:solidFill>
                  <a:srgbClr val="F8FAFC"/>
                </a:solidFill>
                <a:latin typeface="Tajawal"/>
              </a:defRPr>
            </a:pPr>
            <a:r>
              <a:t>• تنفيذ مستودع NetworkRepositoryImpl.</a:t>
            </a:r>
          </a:p>
          <a:p>
            <a:pPr algn="r">
              <a:defRPr sz="850">
                <a:solidFill>
                  <a:srgbClr val="F8FAFC"/>
                </a:solidFill>
                <a:latin typeface="Tajawal"/>
              </a:defRPr>
            </a:pPr>
            <a:r>
              <a:t>• برمجة قنوات Platform MethodChannel بنواة كوتلن.</a:t>
            </a:r>
          </a:p>
          <a:p>
            <a:pPr algn="r">
              <a:defRPr sz="850">
                <a:solidFill>
                  <a:srgbClr val="F8FAFC"/>
                </a:solidFill>
                <a:latin typeface="Tajawal"/>
              </a:defRPr>
            </a:pPr>
            <a:r>
              <a:t>• استخراج قوة الإشارة عبر TelephonyManager.</a:t>
            </a:r>
          </a:p>
          <a:p>
            <a:pPr algn="r">
              <a:defRPr sz="850">
                <a:solidFill>
                  <a:srgbClr val="F8FAFC"/>
                </a:solidFill>
                <a:latin typeface="Tajawal"/>
              </a:defRPr>
            </a:pPr>
            <a:r>
              <a:t>• بناء خوارزمية السقوط المتعدد Multi-Intent.</a:t>
            </a:r>
          </a:p>
          <a:p>
            <a:pPr algn="r">
              <a:defRPr sz="850">
                <a:solidFill>
                  <a:srgbClr val="F8FAFC"/>
                </a:solidFill>
                <a:latin typeface="Tajawal"/>
              </a:defRPr>
            </a:pPr>
            <a:r>
              <a:t>• حفظ التفضيلات وإدارة أذونات الهاتف.</a:t>
            </a:r>
          </a:p>
        </p:txBody>
      </p:sp>
      <p:sp>
        <p:nvSpPr>
          <p:cNvPr id="13" name="Rounded Rectangle 12"/>
          <p:cNvSpPr/>
          <p:nvPr/>
        </p:nvSpPr>
        <p:spPr>
          <a:xfrm>
            <a:off x="8823960" y="1645920"/>
            <a:ext cx="251460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1783080"/>
            <a:ext cx="2148840" cy="457200"/>
          </a:xfrm>
          <a:prstGeom prst="rect">
            <a:avLst/>
          </a:prstGeom>
          <a:noFill/>
        </p:spPr>
        <p:txBody>
          <a:bodyPr wrap="square" lIns="0" tIns="0" rIns="0" bIns="0">
            <a:spAutoFit/>
          </a:bodyPr>
          <a:lstStyle/>
          <a:p>
            <a:pPr algn="r">
              <a:defRPr sz="1400" b="1">
                <a:solidFill>
                  <a:srgbClr val="00F0FF"/>
                </a:solidFill>
                <a:latin typeface="Cairo"/>
              </a:defRPr>
            </a:pPr>
            <a:r>
              <a:t>4. م. مؤيد الصوفي</a:t>
            </a:r>
          </a:p>
        </p:txBody>
      </p:sp>
      <p:sp>
        <p:nvSpPr>
          <p:cNvPr id="15" name="TextBox 14"/>
          <p:cNvSpPr txBox="1"/>
          <p:nvPr/>
        </p:nvSpPr>
        <p:spPr>
          <a:xfrm>
            <a:off x="8961120" y="2194560"/>
            <a:ext cx="2240280" cy="3657600"/>
          </a:xfrm>
          <a:prstGeom prst="rect">
            <a:avLst/>
          </a:prstGeom>
          <a:noFill/>
        </p:spPr>
        <p:txBody>
          <a:bodyPr wrap="square">
            <a:spAutoFit/>
          </a:bodyPr>
          <a:lstStyle/>
          <a:p>
            <a:pPr algn="r">
              <a:defRPr sz="950" b="1">
                <a:solidFill>
                  <a:srgbClr val="00F0FF"/>
                </a:solidFill>
                <a:latin typeface="Cairo"/>
              </a:defRPr>
            </a:pPr>
            <a:r>
              <a:t>UI/UX Pro Max Engineer</a:t>
            </a:r>
            <a:br/>
            <a:r>
              <a:t>Epic 4: الواجهة والحالة التفاعلية (Issues #19 - #24)</a:t>
            </a:r>
          </a:p>
          <a:p>
            <a:pPr algn="r">
              <a:defRPr sz="850">
                <a:solidFill>
                  <a:srgbClr val="F8FAFC"/>
                </a:solidFill>
                <a:latin typeface="Tajawal"/>
              </a:defRPr>
            </a:pPr>
            <a:r>
              <a:t>• تصميم سمة النيون الفضائية Cyberpunk Navy.</a:t>
            </a:r>
          </a:p>
          <a:p>
            <a:pPr algn="r">
              <a:defRPr sz="850">
                <a:solidFill>
                  <a:srgbClr val="F8FAFC"/>
                </a:solidFill>
                <a:latin typeface="Tajawal"/>
              </a:defRPr>
            </a:pPr>
            <a:r>
              <a:t>• بناء بطاقة المراقبة الحية بـ 5 أعمدة تفاعلية.</a:t>
            </a:r>
          </a:p>
          <a:p>
            <a:pPr algn="r">
              <a:defRPr sz="850">
                <a:solidFill>
                  <a:srgbClr val="F8FAFC"/>
                </a:solidFill>
                <a:latin typeface="Tajawal"/>
              </a:defRPr>
            </a:pPr>
            <a:r>
              <a:t>• تصميم بطاقات الأنماط الخمسة لشبكات اليمن.</a:t>
            </a:r>
          </a:p>
          <a:p>
            <a:pPr algn="r">
              <a:defRPr sz="850">
                <a:solidFill>
                  <a:srgbClr val="F8FAFC"/>
                </a:solidFill>
                <a:latin typeface="Tajawal"/>
              </a:defRPr>
            </a:pPr>
            <a:r>
              <a:t>• دمج مراقب دورة حياة النظام WidgetsBindingObserver.</a:t>
            </a:r>
          </a:p>
          <a:p>
            <a:pPr algn="r">
              <a:defRPr sz="850">
                <a:solidFill>
                  <a:srgbClr val="F8FAFC"/>
                </a:solidFill>
                <a:latin typeface="Tajawal"/>
              </a:defRPr>
            </a:pPr>
            <a:r>
              <a:t>• بناء معالج الأخطاء ودرع وضع الطيران الفوري.</a:t>
            </a:r>
          </a:p>
          <a:p>
            <a:pPr algn="r">
              <a:defRPr sz="850">
                <a:solidFill>
                  <a:srgbClr val="F8FAFC"/>
                </a:solidFill>
                <a:latin typeface="Tajawal"/>
              </a:defRPr>
            </a:pPr>
            <a:r>
              <a:t>• إخراج العرض البصري واختبارات القبول النهائي.</a:t>
            </a:r>
          </a:p>
        </p:txBody>
      </p:sp>
      <p:sp>
        <p:nvSpPr>
          <p:cNvPr id="16" name="TextBox 15"/>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6 من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الهندسة المعمارية واستقلالية النطاق</a:t>
            </a:r>
          </a:p>
          <a:p>
            <a:pPr algn="r">
              <a:defRPr sz="2400" b="1">
                <a:solidFill>
                  <a:srgbClr val="F8FAFC"/>
                </a:solidFill>
                <a:latin typeface="Cairo"/>
              </a:defRPr>
            </a:pPr>
            <a:r>
              <a:t>6. المعمارية البرمجية النظيفة ومبادئ SOLID الهندسية</a:t>
            </a:r>
          </a:p>
        </p:txBody>
      </p:sp>
      <p:sp>
        <p:nvSpPr>
          <p:cNvPr id="4" name="Rounded Rectangle 3"/>
          <p:cNvSpPr/>
          <p:nvPr/>
        </p:nvSpPr>
        <p:spPr>
          <a:xfrm>
            <a:off x="731520" y="1645920"/>
            <a:ext cx="10728655" cy="1234440"/>
          </a:xfrm>
          <a:prstGeom prst="roundRect">
            <a:avLst/>
          </a:prstGeom>
          <a:solidFill>
            <a:srgbClr val="111827"/>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37360"/>
            <a:ext cx="10362895" cy="1051560"/>
          </a:xfrm>
          <a:prstGeom prst="rect">
            <a:avLst/>
          </a:prstGeom>
          <a:noFill/>
        </p:spPr>
        <p:txBody>
          <a:bodyPr wrap="square">
            <a:spAutoFit/>
          </a:bodyPr>
          <a:lstStyle/>
          <a:p>
            <a:pPr algn="r">
              <a:defRPr sz="1300" b="1">
                <a:solidFill>
                  <a:srgbClr val="0EA5E9"/>
                </a:solidFill>
                <a:latin typeface="Cairo"/>
              </a:defRPr>
            </a:pPr>
            <a:r>
              <a:t>طبقة العرض والواجهات (Presentation Layer)  —  [Flutter UI &amp; State Management]</a:t>
            </a:r>
          </a:p>
          <a:p>
            <a:pPr algn="r">
              <a:defRPr sz="1050">
                <a:solidFill>
                  <a:srgbClr val="F8FAFC"/>
                </a:solidFill>
                <a:latin typeface="Tajawal"/>
              </a:defRPr>
            </a:pPr>
            <a:r>
              <a:t>تحتوي على Widgets و Controllers وتطبق نمط UI/UX Pro Max وتعتمد كلياً على حالات الاستخدام دون معرفة تفاصيل المودم.</a:t>
            </a:r>
          </a:p>
        </p:txBody>
      </p:sp>
      <p:sp>
        <p:nvSpPr>
          <p:cNvPr id="6" name="Rounded Rectangle 5"/>
          <p:cNvSpPr/>
          <p:nvPr/>
        </p:nvSpPr>
        <p:spPr>
          <a:xfrm>
            <a:off x="731520" y="3017520"/>
            <a:ext cx="10728655" cy="1234440"/>
          </a:xfrm>
          <a:prstGeom prst="roundRect">
            <a:avLst/>
          </a:prstGeom>
          <a:solidFill>
            <a:srgbClr val="111827"/>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08960"/>
            <a:ext cx="10362895" cy="1051560"/>
          </a:xfrm>
          <a:prstGeom prst="rect">
            <a:avLst/>
          </a:prstGeom>
          <a:noFill/>
        </p:spPr>
        <p:txBody>
          <a:bodyPr wrap="square">
            <a:spAutoFit/>
          </a:bodyPr>
          <a:lstStyle/>
          <a:p>
            <a:pPr algn="r">
              <a:defRPr sz="1300" b="1">
                <a:solidFill>
                  <a:srgbClr val="10B981"/>
                </a:solidFill>
                <a:latin typeface="Cairo"/>
              </a:defRPr>
            </a:pPr>
            <a:r>
              <a:t>طبقة النطاق ومنطق الأعمال (Domain Layer - Pure Dart)  —  [Enterprise Business Rules]</a:t>
            </a:r>
          </a:p>
          <a:p>
            <a:pPr algn="r">
              <a:defRPr sz="1050">
                <a:solidFill>
                  <a:srgbClr val="F8FAFC"/>
                </a:solidFill>
                <a:latin typeface="Tajawal"/>
              </a:defRPr>
            </a:pPr>
            <a:r>
              <a:t>قلب المشروع الخالي 100% من أي استيراد لـ Flutter أو مكتبات أندرويد. تضم الكيانات غير القابلة للتعديل والـ Use Cases وواجهات المستودعات المجرّدة.</a:t>
            </a:r>
          </a:p>
        </p:txBody>
      </p:sp>
      <p:sp>
        <p:nvSpPr>
          <p:cNvPr id="8" name="Rounded Rectangle 7"/>
          <p:cNvSpPr/>
          <p:nvPr/>
        </p:nvSpPr>
        <p:spPr>
          <a:xfrm>
            <a:off x="731520" y="4389120"/>
            <a:ext cx="10728655" cy="1234440"/>
          </a:xfrm>
          <a:prstGeom prst="roundRect">
            <a:avLst/>
          </a:prstGeom>
          <a:solidFill>
            <a:srgbClr val="11182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480559"/>
            <a:ext cx="10362895" cy="1051560"/>
          </a:xfrm>
          <a:prstGeom prst="rect">
            <a:avLst/>
          </a:prstGeom>
          <a:noFill/>
        </p:spPr>
        <p:txBody>
          <a:bodyPr wrap="square">
            <a:spAutoFit/>
          </a:bodyPr>
          <a:lstStyle/>
          <a:p>
            <a:pPr algn="r">
              <a:defRPr sz="1300" b="1">
                <a:solidFill>
                  <a:srgbClr val="F59E0B"/>
                </a:solidFill>
                <a:latin typeface="Cairo"/>
              </a:defRPr>
            </a:pPr>
            <a:r>
              <a:t>طبقة البيانات والاتصال بالمنصة (Data Layer)  —  [Repositories &amp; Platform Channels]</a:t>
            </a:r>
          </a:p>
          <a:p>
            <a:pPr algn="r">
              <a:defRPr sz="1050">
                <a:solidFill>
                  <a:srgbClr val="F8FAFC"/>
                </a:solidFill>
                <a:latin typeface="Tajawal"/>
              </a:defRPr>
            </a:pPr>
            <a:r>
              <a:t>تنفذ واجهات المستودعات، وتحتوي على مصدر البيانات RadioDeviceDataSource، وقنوات الاتصال MethodChannel مع نظام أندرويد.</a:t>
            </a:r>
          </a:p>
        </p:txBody>
      </p:sp>
      <p:sp>
        <p:nvSpPr>
          <p:cNvPr id="10" name="Rounded Rectangle 9"/>
          <p:cNvSpPr/>
          <p:nvPr/>
        </p:nvSpPr>
        <p:spPr>
          <a:xfrm>
            <a:off x="731520" y="5760720"/>
            <a:ext cx="10728655" cy="594360"/>
          </a:xfrm>
          <a:prstGeom prst="roundRect">
            <a:avLst/>
          </a:prstGeom>
          <a:solidFill>
            <a:srgbClr val="0F172A"/>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0362895" cy="502920"/>
          </a:xfrm>
          <a:prstGeom prst="rect">
            <a:avLst/>
          </a:prstGeom>
          <a:noFill/>
        </p:spPr>
        <p:txBody>
          <a:bodyPr wrap="none">
            <a:spAutoFit/>
          </a:bodyPr>
          <a:lstStyle/>
          <a:p>
            <a:pPr algn="ctr">
              <a:defRPr sz="950" b="1">
                <a:solidFill>
                  <a:srgbClr val="00F0FF"/>
                </a:solidFill>
                <a:latin typeface="Tajawal"/>
              </a:defRPr>
            </a:pPr>
            <a:r>
              <a:t>مبادئ SOLID المطبقة: استقلالية المسؤولية (SRP) | الانفتاح للتوسيع (OCP) | فصل الواجهات (ISP) | عكس التبعيات (DIP) عبر Mocking و Repositories</a:t>
            </a:r>
          </a:p>
        </p:txBody>
      </p:sp>
      <p:sp>
        <p:nvSpPr>
          <p:cNvPr id="12" name="TextBox 11"/>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7 من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البرمجة المنخفضة ونواة أندرويد</a:t>
            </a:r>
          </a:p>
          <a:p>
            <a:pPr algn="r">
              <a:defRPr sz="2400" b="1">
                <a:solidFill>
                  <a:srgbClr val="F8FAFC"/>
                </a:solidFill>
                <a:latin typeface="Cairo"/>
              </a:defRPr>
            </a:pPr>
            <a:r>
              <a:t>7. هندسة الاتصال العميق بالمودم ونواة كوتلن الأصلية (Native Kotlin Engine)</a:t>
            </a:r>
          </a:p>
        </p:txBody>
      </p:sp>
      <p:sp>
        <p:nvSpPr>
          <p:cNvPr id="4" name="Rounded Rectangle 3"/>
          <p:cNvSpPr/>
          <p:nvPr/>
        </p:nvSpPr>
        <p:spPr>
          <a:xfrm>
            <a:off x="731520" y="1645920"/>
            <a:ext cx="521208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457200"/>
          </a:xfrm>
          <a:prstGeom prst="rect">
            <a:avLst/>
          </a:prstGeom>
          <a:noFill/>
        </p:spPr>
        <p:txBody>
          <a:bodyPr wrap="square" lIns="0" tIns="0" rIns="0" bIns="0">
            <a:spAutoFit/>
          </a:bodyPr>
          <a:lstStyle/>
          <a:p>
            <a:pPr algn="r">
              <a:defRPr sz="1400" b="1">
                <a:solidFill>
                  <a:srgbClr val="00F0FF"/>
                </a:solidFill>
                <a:latin typeface="Cairo"/>
              </a:defRPr>
            </a:pPr>
            <a:r>
              <a:t>خوارزمية السقوط المتعدد (Multi-Intent Fallback)</a:t>
            </a:r>
          </a:p>
        </p:txBody>
      </p:sp>
      <p:sp>
        <p:nvSpPr>
          <p:cNvPr id="6" name="TextBox 5"/>
          <p:cNvSpPr txBox="1"/>
          <p:nvPr/>
        </p:nvSpPr>
        <p:spPr>
          <a:xfrm>
            <a:off x="914400" y="2194560"/>
            <a:ext cx="4846320" cy="3657600"/>
          </a:xfrm>
          <a:prstGeom prst="rect">
            <a:avLst/>
          </a:prstGeom>
          <a:noFill/>
        </p:spPr>
        <p:txBody>
          <a:bodyPr wrap="square">
            <a:spAutoFit/>
          </a:bodyPr>
          <a:lstStyle/>
          <a:p/>
          <a:p>
            <a:pPr algn="r">
              <a:defRPr sz="1050">
                <a:solidFill>
                  <a:srgbClr val="F8FAFC"/>
                </a:solidFill>
                <a:latin typeface="Tajawal"/>
              </a:defRPr>
            </a:pPr>
            <a:r>
              <a:t>⚙️ قناة الاتصال الثنائية MethodChannel:</a:t>
            </a:r>
            <a:br/>
            <a:r>
              <a:t>اسم القناة 'com.netmode.app/radio' لنقل أوامر المودم وحالات الشبكة بشكل غير متزامن بدون تجميد للواجهة.</a:t>
            </a:r>
            <a:br/>
          </a:p>
          <a:p>
            <a:pPr algn="r">
              <a:defRPr sz="1050">
                <a:solidFill>
                  <a:srgbClr val="F8FAFC"/>
                </a:solidFill>
                <a:latin typeface="Tajawal"/>
              </a:defRPr>
            </a:pPr>
            <a:r>
              <a:t>⚙️ سلسلة الحزم المستهدفة (Fallback Targets):</a:t>
            </a:r>
            <a:br/>
            <a:r>
              <a:t>1. com.android.phone.settings.RadioInfo</a:t>
            </a:r>
            <a:br/>
            <a:r>
              <a:t>2. com.android.settings.RadioInfo</a:t>
            </a:r>
            <a:br/>
            <a:r>
              <a:t>3. com.android.settings.TestingSettings</a:t>
            </a:r>
            <a:br/>
            <a:r>
              <a:t>4. Settings.ACTION_DATA_ROAMING_SETTINGS</a:t>
            </a:r>
            <a:br/>
          </a:p>
          <a:p>
            <a:pPr algn="r">
              <a:defRPr sz="1050">
                <a:solidFill>
                  <a:srgbClr val="F8FAFC"/>
                </a:solidFill>
                <a:latin typeface="Tajawal"/>
              </a:defRPr>
            </a:pPr>
            <a:r>
              <a:t>⚙️ معالجة الاستثناءات الدفاعية:</a:t>
            </a:r>
            <a:br/>
            <a:r>
              <a:t>فحص كل Intent بحماية try-catch مع إضافة راية Intent.FLAG_ACTIVITY_NEW_TASK لضمان عدم توقف التطبيق أبداً عند رفض الحزمة.</a:t>
            </a:r>
            <a:br/>
          </a:p>
        </p:txBody>
      </p:sp>
      <p:sp>
        <p:nvSpPr>
          <p:cNvPr id="7" name="Rounded Rectangle 6"/>
          <p:cNvSpPr/>
          <p:nvPr/>
        </p:nvSpPr>
        <p:spPr>
          <a:xfrm>
            <a:off x="6217920" y="1645920"/>
            <a:ext cx="521208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57200"/>
          </a:xfrm>
          <a:prstGeom prst="rect">
            <a:avLst/>
          </a:prstGeom>
          <a:noFill/>
        </p:spPr>
        <p:txBody>
          <a:bodyPr wrap="square" lIns="0" tIns="0" rIns="0" bIns="0">
            <a:spAutoFit/>
          </a:bodyPr>
          <a:lstStyle/>
          <a:p>
            <a:pPr algn="r">
              <a:defRPr sz="1400" b="1">
                <a:solidFill>
                  <a:srgbClr val="00F0FF"/>
                </a:solidFill>
                <a:latin typeface="Cairo"/>
              </a:defRPr>
            </a:pPr>
            <a:r>
              <a:t>استخراج الإشارة والتحكم المزدوج (Hybrid Execution)</a:t>
            </a:r>
          </a:p>
        </p:txBody>
      </p:sp>
      <p:sp>
        <p:nvSpPr>
          <p:cNvPr id="9" name="TextBox 8"/>
          <p:cNvSpPr txBox="1"/>
          <p:nvPr/>
        </p:nvSpPr>
        <p:spPr>
          <a:xfrm>
            <a:off x="6400800" y="2194560"/>
            <a:ext cx="4846320" cy="3657600"/>
          </a:xfrm>
          <a:prstGeom prst="rect">
            <a:avLst/>
          </a:prstGeom>
          <a:noFill/>
        </p:spPr>
        <p:txBody>
          <a:bodyPr wrap="square">
            <a:spAutoFit/>
          </a:bodyPr>
          <a:lstStyle/>
          <a:p/>
          <a:p>
            <a:pPr algn="r">
              <a:defRPr sz="1050">
                <a:solidFill>
                  <a:srgbClr val="00F0FF"/>
                </a:solidFill>
                <a:latin typeface="Tajawal"/>
              </a:defRPr>
            </a:pPr>
            <a:r>
              <a:t>📡 استخراج الإشارة عبر TelephonyManager:</a:t>
            </a:r>
            <a:br/>
            <a:r>
              <a:t>التوافق مع أندرويد 8 حتى 14+ باستخراج cellSignalStrengths وقيم dBm و ASU ومستوى الإشارة من 0 إلى 4 بدقة متناهية.</a:t>
            </a:r>
            <a:br/>
          </a:p>
          <a:p>
            <a:pPr algn="r">
              <a:defRPr sz="1050">
                <a:solidFill>
                  <a:srgbClr val="00F0FF"/>
                </a:solidFill>
                <a:latin typeface="Tajawal"/>
              </a:defRPr>
            </a:pPr>
            <a:r>
              <a:t>📡 المسار الصامت للهواتف المروّتة (Root Path):</a:t>
            </a:r>
            <a:br/>
            <a:r>
              <a:t>تنفيذ أمر الشل الفوري بصلاحيات الروت الخارقة:</a:t>
            </a:r>
            <a:br/>
            <a:r>
              <a:t>`su -c cmd phone set-preferred-network-type [CODE]`</a:t>
            </a:r>
            <a:br/>
            <a:r>
              <a:t>لتغيير التردد بلمسة واحدة دون تدخل المستخدم.</a:t>
            </a:r>
            <a:br/>
          </a:p>
          <a:p>
            <a:pPr algn="r">
              <a:defRPr sz="1050">
                <a:solidFill>
                  <a:srgbClr val="00F0FF"/>
                </a:solidFill>
                <a:latin typeface="Tajawal"/>
              </a:defRPr>
            </a:pPr>
            <a:r>
              <a:t>📡 مسار الهواتف القياسية (Standard Path):</a:t>
            </a:r>
            <a:br/>
            <a:r>
              <a:t>القفز التلقائي المباشر لنافذة Phone info الأصلية وإرشاد المستخدم للنمط المطابق لاختياره بنقرة واحدة.</a:t>
            </a:r>
            <a:br/>
          </a:p>
        </p:txBody>
      </p:sp>
      <p:sp>
        <p:nvSpPr>
          <p:cNvPr id="10" name="TextBox 9"/>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8 من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واجهات المستخدم التفاعلية</a:t>
            </a:r>
          </a:p>
          <a:p>
            <a:pPr algn="r">
              <a:defRPr sz="2400" b="1">
                <a:solidFill>
                  <a:srgbClr val="F8FAFC"/>
                </a:solidFill>
                <a:latin typeface="Cairo"/>
              </a:defRPr>
            </a:pPr>
            <a:r>
              <a:t>8. التجربة البصرية المتقدمة وشاشات النظام الواقعية (UI/UX Showcase)</a:t>
            </a:r>
          </a:p>
        </p:txBody>
      </p:sp>
      <p:pic>
        <p:nvPicPr>
          <p:cNvPr id="4" name="Picture 3" descr="app_screen.png"/>
          <p:cNvPicPr>
            <a:picLocks noChangeAspect="1"/>
          </p:cNvPicPr>
          <p:nvPr/>
        </p:nvPicPr>
        <p:blipFill>
          <a:blip r:embed="rId2"/>
          <a:stretch>
            <a:fillRect/>
          </a:stretch>
        </p:blipFill>
        <p:spPr>
          <a:xfrm>
            <a:off x="1097280" y="1645920"/>
            <a:ext cx="2194560" cy="4876800"/>
          </a:xfrm>
          <a:prstGeom prst="rect">
            <a:avLst/>
          </a:prstGeom>
        </p:spPr>
      </p:pic>
      <p:sp>
        <p:nvSpPr>
          <p:cNvPr id="5" name="Rounded Rectangle 4"/>
          <p:cNvSpPr/>
          <p:nvPr/>
        </p:nvSpPr>
        <p:spPr>
          <a:xfrm>
            <a:off x="822960" y="5577840"/>
            <a:ext cx="2743200" cy="64008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23560"/>
            <a:ext cx="2743200" cy="548640"/>
          </a:xfrm>
          <a:prstGeom prst="rect">
            <a:avLst/>
          </a:prstGeom>
          <a:noFill/>
        </p:spPr>
        <p:txBody>
          <a:bodyPr wrap="none">
            <a:spAutoFit/>
          </a:bodyPr>
          <a:lstStyle/>
          <a:p>
            <a:pPr algn="ctr">
              <a:defRPr sz="1000" b="1">
                <a:solidFill>
                  <a:srgbClr val="00F0FF"/>
                </a:solidFill>
                <a:latin typeface="Cairo"/>
              </a:defRPr>
            </a:pPr>
            <a:r>
              <a:t>واجهة التطبيق الرئيسية (5G/4G)</a:t>
            </a:r>
          </a:p>
        </p:txBody>
      </p:sp>
      <p:pic>
        <p:nvPicPr>
          <p:cNvPr id="7" name="Picture 6" descr="device_screen.png"/>
          <p:cNvPicPr>
            <a:picLocks noChangeAspect="1"/>
          </p:cNvPicPr>
          <p:nvPr/>
        </p:nvPicPr>
        <p:blipFill>
          <a:blip r:embed="rId3"/>
          <a:stretch>
            <a:fillRect/>
          </a:stretch>
        </p:blipFill>
        <p:spPr>
          <a:xfrm>
            <a:off x="4937760" y="1645920"/>
            <a:ext cx="2194560" cy="4876800"/>
          </a:xfrm>
          <a:prstGeom prst="rect">
            <a:avLst/>
          </a:prstGeom>
        </p:spPr>
      </p:pic>
      <p:sp>
        <p:nvSpPr>
          <p:cNvPr id="8" name="Rounded Rectangle 7"/>
          <p:cNvSpPr/>
          <p:nvPr/>
        </p:nvSpPr>
        <p:spPr>
          <a:xfrm>
            <a:off x="4663440" y="5577840"/>
            <a:ext cx="2743200" cy="64008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5623560"/>
            <a:ext cx="2743200" cy="548640"/>
          </a:xfrm>
          <a:prstGeom prst="rect">
            <a:avLst/>
          </a:prstGeom>
          <a:noFill/>
        </p:spPr>
        <p:txBody>
          <a:bodyPr wrap="none">
            <a:spAutoFit/>
          </a:bodyPr>
          <a:lstStyle/>
          <a:p>
            <a:pPr algn="ctr">
              <a:defRPr sz="1000" b="1">
                <a:solidFill>
                  <a:srgbClr val="10B981"/>
                </a:solidFill>
                <a:latin typeface="Cairo"/>
              </a:defRPr>
            </a:pPr>
            <a:r>
              <a:t>نافذة Phone info الأصلية</a:t>
            </a:r>
          </a:p>
        </p:txBody>
      </p:sp>
      <p:pic>
        <p:nvPicPr>
          <p:cNvPr id="10" name="Picture 9" descr="screen_airplane.png"/>
          <p:cNvPicPr>
            <a:picLocks noChangeAspect="1"/>
          </p:cNvPicPr>
          <p:nvPr/>
        </p:nvPicPr>
        <p:blipFill>
          <a:blip r:embed="rId4"/>
          <a:stretch>
            <a:fillRect/>
          </a:stretch>
        </p:blipFill>
        <p:spPr>
          <a:xfrm>
            <a:off x="8778240" y="1645920"/>
            <a:ext cx="2194560" cy="4876800"/>
          </a:xfrm>
          <a:prstGeom prst="rect">
            <a:avLst/>
          </a:prstGeom>
        </p:spPr>
      </p:pic>
      <p:sp>
        <p:nvSpPr>
          <p:cNvPr id="11" name="Rounded Rectangle 10"/>
          <p:cNvSpPr/>
          <p:nvPr/>
        </p:nvSpPr>
        <p:spPr>
          <a:xfrm>
            <a:off x="8503920" y="5577840"/>
            <a:ext cx="2743200" cy="64008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5623560"/>
            <a:ext cx="2743200" cy="548640"/>
          </a:xfrm>
          <a:prstGeom prst="rect">
            <a:avLst/>
          </a:prstGeom>
          <a:noFill/>
        </p:spPr>
        <p:txBody>
          <a:bodyPr wrap="none">
            <a:spAutoFit/>
          </a:bodyPr>
          <a:lstStyle/>
          <a:p>
            <a:pPr algn="ctr">
              <a:defRPr sz="1000" b="1">
                <a:solidFill>
                  <a:srgbClr val="EF4444"/>
                </a:solidFill>
                <a:latin typeface="Cairo"/>
              </a:defRPr>
            </a:pPr>
            <a:r>
              <a:t>درع وضع الطيران التفاعلي</a:t>
            </a:r>
          </a:p>
        </p:txBody>
      </p:sp>
      <p:sp>
        <p:nvSpPr>
          <p:cNvPr id="13" name="TextBox 12"/>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9 من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ضمان الجودة ومقاومة الأخطاء</a:t>
            </a:r>
          </a:p>
          <a:p>
            <a:pPr algn="r">
              <a:defRPr sz="2400" b="1">
                <a:solidFill>
                  <a:srgbClr val="F8FAFC"/>
                </a:solidFill>
                <a:latin typeface="Cairo"/>
              </a:defRPr>
            </a:pPr>
            <a:r>
              <a:t>9. مصفوفة التحقق الآلي والتصميم الدفاعي الصارم (Quality Assurance)</a:t>
            </a:r>
          </a:p>
        </p:txBody>
      </p:sp>
      <p:sp>
        <p:nvSpPr>
          <p:cNvPr id="4" name="Rounded Rectangle 3"/>
          <p:cNvSpPr/>
          <p:nvPr/>
        </p:nvSpPr>
        <p:spPr>
          <a:xfrm>
            <a:off x="731520" y="1645920"/>
            <a:ext cx="521208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457200"/>
          </a:xfrm>
          <a:prstGeom prst="rect">
            <a:avLst/>
          </a:prstGeom>
          <a:noFill/>
        </p:spPr>
        <p:txBody>
          <a:bodyPr wrap="square" lIns="0" tIns="0" rIns="0" bIns="0">
            <a:spAutoFit/>
          </a:bodyPr>
          <a:lstStyle/>
          <a:p>
            <a:pPr algn="r">
              <a:defRPr sz="1400" b="1">
                <a:solidFill>
                  <a:srgbClr val="00F0FF"/>
                </a:solidFill>
                <a:latin typeface="Cairo"/>
              </a:defRPr>
            </a:pPr>
            <a:r>
              <a:t>مصفوفة اختبارات الوحدة الآلية (11/11 نجاح)</a:t>
            </a:r>
          </a:p>
        </p:txBody>
      </p:sp>
      <p:sp>
        <p:nvSpPr>
          <p:cNvPr id="6" name="TextBox 5"/>
          <p:cNvSpPr txBox="1"/>
          <p:nvPr/>
        </p:nvSpPr>
        <p:spPr>
          <a:xfrm>
            <a:off x="914400" y="2194560"/>
            <a:ext cx="4846320" cy="3657600"/>
          </a:xfrm>
          <a:prstGeom prst="rect">
            <a:avLst/>
          </a:prstGeom>
          <a:noFill/>
        </p:spPr>
        <p:txBody>
          <a:bodyPr wrap="square">
            <a:spAutoFit/>
          </a:bodyPr>
          <a:lstStyle/>
          <a:p/>
          <a:p>
            <a:pPr algn="r">
              <a:defRPr sz="1050">
                <a:solidFill>
                  <a:srgbClr val="F8FAFC"/>
                </a:solidFill>
                <a:latin typeface="Tajawal"/>
              </a:defRPr>
            </a:pPr>
            <a:r>
              <a:t>✅ NetworkMode Entity Tests: التحقق من صحة تعريفات الأنماط والأكواد والعزل التام.</a:t>
            </a:r>
          </a:p>
          <a:p>
            <a:pPr algn="r">
              <a:defRPr sz="1050">
                <a:solidFill>
                  <a:srgbClr val="F8FAFC"/>
                </a:solidFill>
                <a:latin typeface="Tajawal"/>
              </a:defRPr>
            </a:pPr>
            <a:r>
              <a:t>✅ NetworkInfo Validation Tests: التحقق من صحة حقول قوة الإشارة ونوع التقنية وبطاقة SIM.</a:t>
            </a:r>
          </a:p>
          <a:p>
            <a:pPr algn="r">
              <a:defRPr sz="1050">
                <a:solidFill>
                  <a:srgbClr val="F8FAFC"/>
                </a:solidFill>
                <a:latin typeface="Tajawal"/>
              </a:defRPr>
            </a:pPr>
            <a:r>
              <a:t>✅ GetCurrentModeUseCase Tests: اختبار استرجاع النمط الفعلي عبر المستودع الوهمي Mock.</a:t>
            </a:r>
          </a:p>
          <a:p>
            <a:pPr algn="r">
              <a:defRPr sz="1050">
                <a:solidFill>
                  <a:srgbClr val="F8FAFC"/>
                </a:solidFill>
                <a:latin typeface="Tajawal"/>
              </a:defRPr>
            </a:pPr>
            <a:r>
              <a:t>✅ SetNetworkModeUseCase Tests: اختبار تمرير أوامر التغيير بنجاح والتحقق من الاستجابة.</a:t>
            </a:r>
          </a:p>
          <a:p>
            <a:pPr algn="r">
              <a:defRPr sz="1050">
                <a:solidFill>
                  <a:srgbClr val="F8FAFC"/>
                </a:solidFill>
                <a:latin typeface="Tajawal"/>
              </a:defRPr>
            </a:pPr>
            <a:r>
              <a:t>✅ Repository Isolation Tests: عزل طبقة النطاق بنسبة 100% عن قنوات المنصة وتأكيد سلامة العقود.</a:t>
            </a:r>
          </a:p>
        </p:txBody>
      </p:sp>
      <p:sp>
        <p:nvSpPr>
          <p:cNvPr id="7" name="Rounded Rectangle 6"/>
          <p:cNvSpPr/>
          <p:nvPr/>
        </p:nvSpPr>
        <p:spPr>
          <a:xfrm>
            <a:off x="6217920" y="1645920"/>
            <a:ext cx="5212080" cy="438912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46320" cy="457200"/>
          </a:xfrm>
          <a:prstGeom prst="rect">
            <a:avLst/>
          </a:prstGeom>
          <a:noFill/>
        </p:spPr>
        <p:txBody>
          <a:bodyPr wrap="square" lIns="0" tIns="0" rIns="0" bIns="0">
            <a:spAutoFit/>
          </a:bodyPr>
          <a:lstStyle/>
          <a:p>
            <a:pPr algn="r">
              <a:defRPr sz="1400" b="1">
                <a:solidFill>
                  <a:srgbClr val="00F0FF"/>
                </a:solidFill>
                <a:latin typeface="Cairo"/>
              </a:defRPr>
            </a:pPr>
            <a:r>
              <a:t>أنماط التصميم الدفاعي (Defensive Architecture)</a:t>
            </a:r>
          </a:p>
        </p:txBody>
      </p:sp>
      <p:sp>
        <p:nvSpPr>
          <p:cNvPr id="9" name="TextBox 8"/>
          <p:cNvSpPr txBox="1"/>
          <p:nvPr/>
        </p:nvSpPr>
        <p:spPr>
          <a:xfrm>
            <a:off x="6400800" y="2194560"/>
            <a:ext cx="4846320" cy="3657600"/>
          </a:xfrm>
          <a:prstGeom prst="rect">
            <a:avLst/>
          </a:prstGeom>
          <a:noFill/>
        </p:spPr>
        <p:txBody>
          <a:bodyPr wrap="square">
            <a:spAutoFit/>
          </a:bodyPr>
          <a:lstStyle/>
          <a:p/>
          <a:p>
            <a:pPr algn="r">
              <a:defRPr sz="1050">
                <a:solidFill>
                  <a:srgbClr val="00F0FF"/>
                </a:solidFill>
                <a:latin typeface="Tajawal"/>
              </a:defRPr>
            </a:pPr>
            <a:r>
              <a:t>🛡️ درع وضع الطيران (Airplane Mode Shield):</a:t>
            </a:r>
            <a:br/>
            <a:r>
              <a:t>الاستشعار التلقائي الفوري عبر Broadcast Receiver وإطفاء أعمدة الإشارة لمنع إرباك المستخدم أو إرسال أوامر فاشلة.</a:t>
            </a:r>
            <a:br/>
          </a:p>
          <a:p>
            <a:pPr algn="r">
              <a:defRPr sz="1050">
                <a:solidFill>
                  <a:srgbClr val="00F0FF"/>
                </a:solidFill>
                <a:latin typeface="Tajawal"/>
              </a:defRPr>
            </a:pPr>
            <a:r>
              <a:t>🛡️ حارس الأذونات (Permission Guard):</a:t>
            </a:r>
            <a:br/>
            <a:r>
              <a:t>فحص إذن READ_PHONE_STATE وعرض بطاقة توجيهية فورية عند فقدان الإذن دون انهيار التطبيق.</a:t>
            </a:r>
            <a:br/>
          </a:p>
          <a:p>
            <a:pPr algn="r">
              <a:defRPr sz="1050">
                <a:solidFill>
                  <a:srgbClr val="00F0FF"/>
                </a:solidFill>
                <a:latin typeface="Tajawal"/>
              </a:defRPr>
            </a:pPr>
            <a:r>
              <a:t>🛡️ التحكم بحياة التطبيق (WidgetsBindingObserver):</a:t>
            </a:r>
            <a:br/>
            <a:r>
              <a:t>المزامنة الذاتية الفورية للبيانات بمجرد عودة المستخدم من إعدادات النظام بدون الحاجة للنقر على أي زر.</a:t>
            </a:r>
            <a:br/>
          </a:p>
          <a:p>
            <a:pPr algn="r">
              <a:defRPr sz="1050">
                <a:solidFill>
                  <a:srgbClr val="00F0FF"/>
                </a:solidFill>
                <a:latin typeface="Tajawal"/>
              </a:defRPr>
            </a:pPr>
            <a:r>
              <a:t>🛡️ التوافق العتادي المتعدد:</a:t>
            </a:r>
            <a:br/>
            <a:r>
              <a:t>التعامل الآمن مع الهواتف ثنائية الشريحة (Dual SIM) والمعالجات المختلفة (MediaTek/Qualcomm).</a:t>
            </a:r>
            <a:br/>
          </a:p>
        </p:txBody>
      </p:sp>
      <p:sp>
        <p:nvSpPr>
          <p:cNvPr id="10" name="TextBox 9"/>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10 من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lgn="r">
              <a:defRPr sz="1100" b="1">
                <a:solidFill>
                  <a:srgbClr val="00F0FF"/>
                </a:solidFill>
                <a:latin typeface="Cairo"/>
              </a:defRPr>
            </a:pPr>
            <a:r>
              <a:t>مخرجات المشروع ومؤشرات الأداء</a:t>
            </a:r>
          </a:p>
          <a:p>
            <a:pPr algn="r">
              <a:defRPr sz="2400" b="1">
                <a:solidFill>
                  <a:srgbClr val="F8FAFC"/>
                </a:solidFill>
                <a:latin typeface="Cairo"/>
              </a:defRPr>
            </a:pPr>
            <a:r>
              <a:t>10. مصفوفة الإنجاز ومؤشرات الجودة البرمجية المكتملة</a:t>
            </a:r>
          </a:p>
        </p:txBody>
      </p:sp>
      <p:sp>
        <p:nvSpPr>
          <p:cNvPr id="4" name="Rounded Rectangle 3"/>
          <p:cNvSpPr/>
          <p:nvPr/>
        </p:nvSpPr>
        <p:spPr>
          <a:xfrm>
            <a:off x="731520" y="1645920"/>
            <a:ext cx="3383280" cy="20116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3108960" cy="1737360"/>
          </a:xfrm>
          <a:prstGeom prst="rect">
            <a:avLst/>
          </a:prstGeom>
          <a:noFill/>
        </p:spPr>
        <p:txBody>
          <a:bodyPr wrap="square">
            <a:spAutoFit/>
          </a:bodyPr>
          <a:lstStyle/>
          <a:p>
            <a:pPr algn="ctr">
              <a:defRPr sz="2800" b="1">
                <a:solidFill>
                  <a:srgbClr val="10B981"/>
                </a:solidFill>
                <a:latin typeface="Cairo"/>
              </a:defRPr>
            </a:pPr>
            <a:r>
              <a:t>24 / 24</a:t>
            </a:r>
          </a:p>
          <a:p>
            <a:pPr algn="ctr">
              <a:defRPr sz="1200" b="1">
                <a:solidFill>
                  <a:srgbClr val="F8FAFC"/>
                </a:solidFill>
                <a:latin typeface="Cairo"/>
              </a:defRPr>
            </a:pPr>
            <a:r>
              <a:t>مهمة كانبان مكتملة (100%)</a:t>
            </a:r>
          </a:p>
          <a:p>
            <a:pPr algn="ctr">
              <a:defRPr sz="950">
                <a:solidFill>
                  <a:srgbClr val="94A3B8"/>
                </a:solidFill>
                <a:latin typeface="Tajawal"/>
              </a:defRPr>
            </a:pPr>
            <a:r>
              <a:t>توزيع دقيق عبر Trello على المهندسين الأربعة بمحددات DoD.</a:t>
            </a:r>
          </a:p>
        </p:txBody>
      </p:sp>
      <p:sp>
        <p:nvSpPr>
          <p:cNvPr id="6" name="Rounded Rectangle 5"/>
          <p:cNvSpPr/>
          <p:nvPr/>
        </p:nvSpPr>
        <p:spPr>
          <a:xfrm>
            <a:off x="4389120" y="1645920"/>
            <a:ext cx="3383280" cy="201168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783080"/>
            <a:ext cx="3108960" cy="1737360"/>
          </a:xfrm>
          <a:prstGeom prst="rect">
            <a:avLst/>
          </a:prstGeom>
          <a:noFill/>
        </p:spPr>
        <p:txBody>
          <a:bodyPr wrap="square">
            <a:spAutoFit/>
          </a:bodyPr>
          <a:lstStyle/>
          <a:p>
            <a:pPr algn="ctr">
              <a:defRPr sz="2800" b="1">
                <a:solidFill>
                  <a:srgbClr val="00F0FF"/>
                </a:solidFill>
                <a:latin typeface="Cairo"/>
              </a:defRPr>
            </a:pPr>
            <a:r>
              <a:t>11 / 11</a:t>
            </a:r>
          </a:p>
          <a:p>
            <a:pPr algn="ctr">
              <a:defRPr sz="1200" b="1">
                <a:solidFill>
                  <a:srgbClr val="F8FAFC"/>
                </a:solidFill>
                <a:latin typeface="Cairo"/>
              </a:defRPr>
            </a:pPr>
            <a:r>
              <a:t>اختبارات وحدة آلية ناجحة</a:t>
            </a:r>
          </a:p>
          <a:p>
            <a:pPr algn="ctr">
              <a:defRPr sz="950">
                <a:solidFill>
                  <a:srgbClr val="94A3B8"/>
                </a:solidFill>
                <a:latin typeface="Tajawal"/>
              </a:defRPr>
            </a:pPr>
            <a:r>
              <a:t>تغطية كاملة لطبقة النطاق وحالات الاستخدام دون أي تحذير Lint.</a:t>
            </a:r>
          </a:p>
        </p:txBody>
      </p:sp>
      <p:sp>
        <p:nvSpPr>
          <p:cNvPr id="8" name="Rounded Rectangle 7"/>
          <p:cNvSpPr/>
          <p:nvPr/>
        </p:nvSpPr>
        <p:spPr>
          <a:xfrm>
            <a:off x="8046720" y="1645920"/>
            <a:ext cx="3383280" cy="2011680"/>
          </a:xfrm>
          <a:prstGeom prst="roundRect">
            <a:avLst/>
          </a:prstGeom>
          <a:solidFill>
            <a:srgbClr val="111827"/>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783080"/>
            <a:ext cx="3108960" cy="1737360"/>
          </a:xfrm>
          <a:prstGeom prst="rect">
            <a:avLst/>
          </a:prstGeom>
          <a:noFill/>
        </p:spPr>
        <p:txBody>
          <a:bodyPr wrap="square">
            <a:spAutoFit/>
          </a:bodyPr>
          <a:lstStyle/>
          <a:p>
            <a:pPr algn="ctr">
              <a:defRPr sz="2800" b="1">
                <a:solidFill>
                  <a:srgbClr val="8B5CF6"/>
                </a:solidFill>
                <a:latin typeface="Cairo"/>
              </a:defRPr>
            </a:pPr>
            <a:r>
              <a:t>100% Offline</a:t>
            </a:r>
          </a:p>
          <a:p>
            <a:pPr algn="ctr">
              <a:defRPr sz="1200" b="1">
                <a:solidFill>
                  <a:srgbClr val="F8FAFC"/>
                </a:solidFill>
                <a:latin typeface="Cairo"/>
              </a:defRPr>
            </a:pPr>
            <a:r>
              <a:t>خصوصية وأمان تام</a:t>
            </a:r>
          </a:p>
          <a:p>
            <a:pPr algn="ctr">
              <a:defRPr sz="950">
                <a:solidFill>
                  <a:srgbClr val="94A3B8"/>
                </a:solidFill>
                <a:latin typeface="Tajawal"/>
              </a:defRPr>
            </a:pPr>
            <a:r>
              <a:t>صفر طلبات خارجية، وعزل كامل لبيانات المودم محلياً.</a:t>
            </a:r>
          </a:p>
        </p:txBody>
      </p:sp>
      <p:sp>
        <p:nvSpPr>
          <p:cNvPr id="10" name="Rounded Rectangle 9"/>
          <p:cNvSpPr/>
          <p:nvPr/>
        </p:nvSpPr>
        <p:spPr>
          <a:xfrm>
            <a:off x="731520" y="3931920"/>
            <a:ext cx="3383280" cy="2011680"/>
          </a:xfrm>
          <a:prstGeom prst="roundRect">
            <a:avLst/>
          </a:prstGeom>
          <a:solidFill>
            <a:srgbClr val="111827"/>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69080"/>
            <a:ext cx="3108960" cy="1737360"/>
          </a:xfrm>
          <a:prstGeom prst="rect">
            <a:avLst/>
          </a:prstGeom>
          <a:noFill/>
        </p:spPr>
        <p:txBody>
          <a:bodyPr wrap="square">
            <a:spAutoFit/>
          </a:bodyPr>
          <a:lstStyle/>
          <a:p>
            <a:pPr algn="ctr">
              <a:defRPr sz="2800" b="1">
                <a:solidFill>
                  <a:srgbClr val="0369A1"/>
                </a:solidFill>
                <a:latin typeface="Cairo"/>
              </a:defRPr>
            </a:pPr>
            <a:r>
              <a:t>5 أنماط مخصصة</a:t>
            </a:r>
          </a:p>
          <a:p>
            <a:pPr algn="ctr">
              <a:defRPr sz="1200" b="1">
                <a:solidFill>
                  <a:srgbClr val="F8FAFC"/>
                </a:solidFill>
                <a:latin typeface="Cairo"/>
              </a:defRPr>
            </a:pPr>
            <a:r>
              <a:t>لشبكات الاتصالات باليمن</a:t>
            </a:r>
          </a:p>
          <a:p>
            <a:pPr algn="ctr">
              <a:defRPr sz="950">
                <a:solidFill>
                  <a:srgbClr val="94A3B8"/>
                </a:solidFill>
                <a:latin typeface="Tajawal"/>
              </a:defRPr>
            </a:pPr>
            <a:r>
              <a:t>دعم سبأفون، يو (YOU)، ويمن موبايل (VoLTE/4G).</a:t>
            </a:r>
          </a:p>
        </p:txBody>
      </p:sp>
      <p:sp>
        <p:nvSpPr>
          <p:cNvPr id="12" name="Rounded Rectangle 11"/>
          <p:cNvSpPr/>
          <p:nvPr/>
        </p:nvSpPr>
        <p:spPr>
          <a:xfrm>
            <a:off x="4389120" y="3931920"/>
            <a:ext cx="3383280" cy="201168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4069080"/>
            <a:ext cx="3108960" cy="1737360"/>
          </a:xfrm>
          <a:prstGeom prst="rect">
            <a:avLst/>
          </a:prstGeom>
          <a:noFill/>
        </p:spPr>
        <p:txBody>
          <a:bodyPr wrap="square">
            <a:spAutoFit/>
          </a:bodyPr>
          <a:lstStyle/>
          <a:p>
            <a:pPr algn="ctr">
              <a:defRPr sz="2800" b="1">
                <a:solidFill>
                  <a:srgbClr val="10B981"/>
                </a:solidFill>
                <a:latin typeface="Cairo"/>
              </a:defRPr>
            </a:pPr>
            <a:r>
              <a:t>18 صفحة محكّمة</a:t>
            </a:r>
          </a:p>
          <a:p>
            <a:pPr algn="ctr">
              <a:defRPr sz="1200" b="1">
                <a:solidFill>
                  <a:srgbClr val="F8FAFC"/>
                </a:solidFill>
                <a:latin typeface="Cairo"/>
              </a:defRPr>
            </a:pPr>
            <a:r>
              <a:t>وثيقة هندسة البرمجيات الكبرى</a:t>
            </a:r>
          </a:p>
          <a:p>
            <a:pPr algn="ctr">
              <a:defRPr sz="950">
                <a:solidFill>
                  <a:srgbClr val="94A3B8"/>
                </a:solidFill>
                <a:latin typeface="Tajawal"/>
              </a:defRPr>
            </a:pPr>
            <a:r>
              <a:t>تقرير شامل ومفصل بالملي معتمد للنشر الأكاديمي.</a:t>
            </a:r>
          </a:p>
        </p:txBody>
      </p:sp>
      <p:sp>
        <p:nvSpPr>
          <p:cNvPr id="14" name="Rounded Rectangle 13"/>
          <p:cNvSpPr/>
          <p:nvPr/>
        </p:nvSpPr>
        <p:spPr>
          <a:xfrm>
            <a:off x="8046720" y="3931920"/>
            <a:ext cx="3383280" cy="201168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4069080"/>
            <a:ext cx="3108960" cy="1737360"/>
          </a:xfrm>
          <a:prstGeom prst="rect">
            <a:avLst/>
          </a:prstGeom>
          <a:noFill/>
        </p:spPr>
        <p:txBody>
          <a:bodyPr wrap="square">
            <a:spAutoFit/>
          </a:bodyPr>
          <a:lstStyle/>
          <a:p>
            <a:pPr algn="ctr">
              <a:defRPr sz="2800" b="1">
                <a:solidFill>
                  <a:srgbClr val="00F0FF"/>
                </a:solidFill>
                <a:latin typeface="Cairo"/>
              </a:defRPr>
            </a:pPr>
            <a:r>
              <a:t>Zero Flutter Import</a:t>
            </a:r>
          </a:p>
          <a:p>
            <a:pPr algn="ctr">
              <a:defRPr sz="1200" b="1">
                <a:solidFill>
                  <a:srgbClr val="F8FAFC"/>
                </a:solidFill>
                <a:latin typeface="Cairo"/>
              </a:defRPr>
            </a:pPr>
            <a:r>
              <a:t>في طبقة الـ Domain</a:t>
            </a:r>
          </a:p>
          <a:p>
            <a:pPr algn="ctr">
              <a:defRPr sz="950">
                <a:solidFill>
                  <a:srgbClr val="94A3B8"/>
                </a:solidFill>
                <a:latin typeface="Tajawal"/>
              </a:defRPr>
            </a:pPr>
            <a:r>
              <a:t>نقاء معماري تام متوافق مع دستور المشروع GEMINI.md.</a:t>
            </a:r>
          </a:p>
        </p:txBody>
      </p:sp>
      <p:sp>
        <p:nvSpPr>
          <p:cNvPr id="16" name="TextBox 15"/>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11 من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493776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54480" y="1051560"/>
            <a:ext cx="9082735" cy="457200"/>
          </a:xfrm>
          <a:prstGeom prst="rect">
            <a:avLst/>
          </a:prstGeom>
          <a:noFill/>
        </p:spPr>
        <p:txBody>
          <a:bodyPr wrap="square" lIns="0" tIns="0" rIns="0" bIns="0">
            <a:spAutoFit/>
          </a:bodyPr>
          <a:lstStyle/>
          <a:p>
            <a:pPr algn="r">
              <a:defRPr sz="1400" b="1">
                <a:solidFill>
                  <a:srgbClr val="00F0FF"/>
                </a:solidFill>
                <a:latin typeface="Cairo"/>
              </a:defRPr>
            </a:pPr>
            <a:r>
              <a:t>خاتمة الدفاع ومناقشة مشروع التخرج</a:t>
            </a:r>
          </a:p>
        </p:txBody>
      </p:sp>
      <p:sp>
        <p:nvSpPr>
          <p:cNvPr id="5" name="TextBox 4"/>
          <p:cNvSpPr txBox="1"/>
          <p:nvPr/>
        </p:nvSpPr>
        <p:spPr>
          <a:xfrm>
            <a:off x="1645920" y="1645920"/>
            <a:ext cx="8899855" cy="3931920"/>
          </a:xfrm>
          <a:prstGeom prst="rect">
            <a:avLst/>
          </a:prstGeom>
          <a:noFill/>
        </p:spPr>
        <p:txBody>
          <a:bodyPr wrap="square">
            <a:spAutoFit/>
          </a:bodyPr>
          <a:lstStyle/>
          <a:p>
            <a:pPr algn="ctr">
              <a:defRPr sz="2200" b="1">
                <a:solidFill>
                  <a:srgbClr val="00F0FF"/>
                </a:solidFill>
                <a:latin typeface="Cairo"/>
              </a:defRPr>
            </a:pPr>
            <a:r>
              <a:t>مشروع NET Mode: نموذج هندسي متكامل لهندسة البرمجيات المتقدمة</a:t>
            </a:r>
          </a:p>
          <a:p>
            <a:pPr algn="ctr">
              <a:defRPr sz="1250">
                <a:solidFill>
                  <a:srgbClr val="F8FAFC"/>
                </a:solidFill>
                <a:latin typeface="Tajawal"/>
              </a:defRPr>
            </a:pPr>
            <a:r>
              <a:t>استطعنا بنجاح تحويل مشكلة معقدة في عتاد الهواتف إلى حل برمجي عالي الاستقرار، مطبقين أعلى معايير هندسة البرمجيات العالمية، من التحليل الرشيق وتفكيك المهام عبر كانبان، إلى المعمارية النظيفة وحوكمة الذكاء الاصطناعي ببروتوكول MCP، مع الالتزام التام بالتصميم الدفاعي ومقاومة الانهيار.</a:t>
            </a:r>
          </a:p>
          <a:p>
            <a:br/>
            <a:pPr algn="ctr">
              <a:defRPr sz="1300">
                <a:solidFill>
                  <a:srgbClr val="94A3B8"/>
                </a:solidFill>
                <a:latin typeface="Tajawal"/>
              </a:defRPr>
            </a:pPr>
            <a:r>
              <a:t>خالص الشكر والتقدير للأستاذ المشرف:</a:t>
            </a:r>
          </a:p>
          <a:p>
            <a:pPr algn="ctr">
              <a:defRPr sz="2600" b="1">
                <a:solidFill>
                  <a:srgbClr val="10B981"/>
                </a:solidFill>
                <a:latin typeface="Cairo"/>
              </a:defRPr>
            </a:pPr>
            <a:r>
              <a:t>د.م. ساهر الهمداني</a:t>
            </a:r>
          </a:p>
          <a:p>
            <a:pPr algn="ctr">
              <a:defRPr sz="1200">
                <a:solidFill>
                  <a:srgbClr val="94A3B8"/>
                </a:solidFill>
                <a:latin typeface="Tajawal"/>
              </a:defRPr>
            </a:pPr>
            <a:r>
              <a:t>على دعمه وتوجيهاته القيمة التي مكنتنا من إنجاز هذا العمل على أعلى مستوى احترافي.</a:t>
            </a:r>
          </a:p>
          <a:p>
            <a:br/>
            <a:pPr algn="ctr">
              <a:defRPr sz="1500" b="1">
                <a:solidFill>
                  <a:srgbClr val="00F0FF"/>
                </a:solidFill>
                <a:latin typeface="Cairo"/>
              </a:defRPr>
            </a:pPr>
            <a:r>
              <a:t>باب الاستفسارات والمناقشة مفتوح أمام لجنة التحكيم الموقرة 🎓</a:t>
            </a:r>
          </a:p>
        </p:txBody>
      </p:sp>
      <p:sp>
        <p:nvSpPr>
          <p:cNvPr id="6" name="TextBox 5"/>
          <p:cNvSpPr txBox="1"/>
          <p:nvPr/>
        </p:nvSpPr>
        <p:spPr>
          <a:xfrm>
            <a:off x="731520" y="6400800"/>
            <a:ext cx="10728655" cy="365760"/>
          </a:xfrm>
          <a:prstGeom prst="rect">
            <a:avLst/>
          </a:prstGeom>
          <a:noFill/>
        </p:spPr>
        <p:txBody>
          <a:bodyPr wrap="square" lIns="0" tIns="0" rIns="0" bIns="0">
            <a:spAutoFit/>
          </a:bodyPr>
          <a:lstStyle/>
          <a:p>
            <a:pPr algn="ctr">
              <a:defRPr sz="1000">
                <a:solidFill>
                  <a:srgbClr val="94A3B8"/>
                </a:solidFill>
                <a:latin typeface="Tajawal"/>
              </a:defRPr>
            </a:pPr>
            <a:r>
              <a:t>NET Mode — إشراف: د.م. ساهر الهمداني | الشريحة 12 من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